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11C6C6B-7BE1-9164-DC4F-9BC98328FFCD}">
          <p14:sldIdLst>
            <p14:sldId id="256"/>
            <p14:sldId id="257"/>
            <p14:sldId id="258"/>
          </p14:sldIdLst>
        </p14:section>
        <p14:section name="Architecture and Technologies" id="{D0E44B75-B3AE-7978-FA1E-AB3E9AC60D88}">
          <p14:sldIdLst>
            <p14:sldId id="259"/>
            <p14:sldId id="260"/>
          </p14:sldIdLst>
        </p14:section>
        <p14:section name="Module Responsibilities" id="{8F05319C-A2FB-985B-8551-A96059B414F0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s and Conclusion" id="{7A7487A2-1D97-2466-580D-10D6E95F273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674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822960"/>
            <a:ext cx="62179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960120" y="1364285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SupplyShield: An Explainable Multimodal Early-Warning System for Supply Chain Disruptions</a:t>
            </a:r>
            <a:endParaRPr lang="en-US" sz="3200" dirty="0"/>
          </a:p>
        </p:txBody>
      </p:sp>
      <p:sp>
        <p:nvSpPr>
          <p:cNvPr id="3" name="badge_1"/>
          <p:cNvSpPr/>
          <p:nvPr/>
        </p:nvSpPr>
        <p:spPr>
          <a:xfrm>
            <a:off x="1280160" y="45720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2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670" y="4769510"/>
            <a:ext cx="427939" cy="427939"/>
          </a:xfrm>
          <a:prstGeom prst="rect">
            <a:avLst/>
          </a:prstGeom>
        </p:spPr>
      </p:pic>
      <p:sp>
        <p:nvSpPr>
          <p:cNvPr id="5" name="badge_3"/>
          <p:cNvSpPr/>
          <p:nvPr/>
        </p:nvSpPr>
        <p:spPr>
          <a:xfrm>
            <a:off x="2834640" y="45720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_4" descr="Fa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50" y="4769510"/>
            <a:ext cx="427939" cy="427939"/>
          </a:xfrm>
          <a:prstGeom prst="rect">
            <a:avLst/>
          </a:prstGeom>
        </p:spPr>
      </p:pic>
      <p:sp>
        <p:nvSpPr>
          <p:cNvPr id="7" name="badge_5"/>
          <p:cNvSpPr/>
          <p:nvPr/>
        </p:nvSpPr>
        <p:spPr>
          <a:xfrm>
            <a:off x="4389120" y="45720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_6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630" y="4769510"/>
            <a:ext cx="427939" cy="427939"/>
          </a:xfrm>
          <a:prstGeom prst="rect">
            <a:avLst/>
          </a:prstGeom>
        </p:spPr>
      </p:pic>
      <p:sp>
        <p:nvSpPr>
          <p:cNvPr id="9" name="arrow_7"/>
          <p:cNvSpPr/>
          <p:nvPr/>
        </p:nvSpPr>
        <p:spPr>
          <a:xfrm>
            <a:off x="2176272" y="4983480"/>
            <a:ext cx="59436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" name="arrow_8"/>
          <p:cNvSpPr/>
          <p:nvPr/>
        </p:nvSpPr>
        <p:spPr>
          <a:xfrm>
            <a:off x="3730752" y="4983480"/>
            <a:ext cx="59436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1" name="card_9"/>
          <p:cNvSpPr/>
          <p:nvPr/>
        </p:nvSpPr>
        <p:spPr>
          <a:xfrm>
            <a:off x="7269480" y="822960"/>
            <a:ext cx="4370832" cy="5349240"/>
          </a:xfrm>
          <a:prstGeom prst="roundRect">
            <a:avLst>
              <a:gd name="adj" fmla="val 2092"/>
            </a:avLst>
          </a:prstGeom>
          <a:solidFill>
            <a:schemeClr val="tx2"/>
          </a:solidFill>
          <a:ln/>
        </p:spPr>
      </p:sp>
      <p:sp>
        <p:nvSpPr>
          <p:cNvPr id="12" name="text_10"/>
          <p:cNvSpPr txBox="1"/>
          <p:nvPr/>
        </p:nvSpPr>
        <p:spPr>
          <a:xfrm>
            <a:off x="75895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Presented by:</a:t>
            </a:r>
            <a:endParaRPr lang="en-US" sz="1800" dirty="0"/>
          </a:p>
        </p:txBody>
      </p:sp>
      <p:sp>
        <p:nvSpPr>
          <p:cNvPr id="13" name="num_11"/>
          <p:cNvSpPr txBox="1"/>
          <p:nvPr/>
        </p:nvSpPr>
        <p:spPr>
          <a:xfrm>
            <a:off x="7589520" y="18470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_12"/>
          <p:cNvSpPr txBox="1"/>
          <p:nvPr/>
        </p:nvSpPr>
        <p:spPr>
          <a:xfrm>
            <a:off x="8183880" y="16916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Anurag Dubey</a:t>
            </a:r>
            <a:r>
              <a:rPr lang="en-US" sz="1500" dirty="0">
                <a:solidFill>
                  <a:schemeClr val="bg1"/>
                </a:solidFill>
              </a:rPr>
              <a:t> — A010175625008</a:t>
            </a:r>
            <a:endParaRPr lang="en-US" sz="1500" dirty="0"/>
          </a:p>
        </p:txBody>
      </p:sp>
      <p:sp>
        <p:nvSpPr>
          <p:cNvPr id="15" name="num_13"/>
          <p:cNvSpPr txBox="1"/>
          <p:nvPr/>
        </p:nvSpPr>
        <p:spPr>
          <a:xfrm>
            <a:off x="7589520" y="273405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_14"/>
          <p:cNvSpPr txBox="1"/>
          <p:nvPr/>
        </p:nvSpPr>
        <p:spPr>
          <a:xfrm>
            <a:off x="8183880" y="257860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Shubham Kumar Bind</a:t>
            </a:r>
            <a:r>
              <a:rPr lang="en-US" sz="1500" dirty="0">
                <a:solidFill>
                  <a:schemeClr val="bg1"/>
                </a:solidFill>
              </a:rPr>
              <a:t> — A010175625009 </a:t>
            </a:r>
            <a:endParaRPr lang="en-US" sz="1500" dirty="0"/>
          </a:p>
        </p:txBody>
      </p:sp>
      <p:sp>
        <p:nvSpPr>
          <p:cNvPr id="17" name="num_15"/>
          <p:cNvSpPr txBox="1"/>
          <p:nvPr/>
        </p:nvSpPr>
        <p:spPr>
          <a:xfrm>
            <a:off x="7589520" y="362102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_16"/>
          <p:cNvSpPr txBox="1"/>
          <p:nvPr/>
        </p:nvSpPr>
        <p:spPr>
          <a:xfrm>
            <a:off x="8183880" y="346557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Abhigyan </a:t>
            </a:r>
            <a:r>
              <a:rPr lang="en-US" sz="1500" b="1" dirty="0" err="1">
                <a:solidFill>
                  <a:schemeClr val="bg1"/>
                </a:solidFill>
              </a:rPr>
              <a:t>Balodi</a:t>
            </a:r>
            <a:r>
              <a:rPr lang="en-US" sz="1500" dirty="0">
                <a:solidFill>
                  <a:schemeClr val="bg1"/>
                </a:solidFill>
              </a:rPr>
              <a:t> — A010175625011 </a:t>
            </a:r>
            <a:endParaRPr lang="en-US" sz="1500" dirty="0"/>
          </a:p>
        </p:txBody>
      </p:sp>
      <p:sp>
        <p:nvSpPr>
          <p:cNvPr id="19" name="num_17"/>
          <p:cNvSpPr txBox="1"/>
          <p:nvPr/>
        </p:nvSpPr>
        <p:spPr>
          <a:xfrm>
            <a:off x="7589520" y="45079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_18"/>
          <p:cNvSpPr txBox="1"/>
          <p:nvPr/>
        </p:nvSpPr>
        <p:spPr>
          <a:xfrm>
            <a:off x="8183880" y="435254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Krishna Sagar </a:t>
            </a:r>
            <a:r>
              <a:rPr lang="en-US" sz="1500" dirty="0">
                <a:solidFill>
                  <a:schemeClr val="bg1"/>
                </a:solidFill>
              </a:rPr>
              <a:t>— A010175625012 </a:t>
            </a:r>
            <a:endParaRPr lang="en-US" sz="1500" dirty="0"/>
          </a:p>
        </p:txBody>
      </p:sp>
      <p:sp>
        <p:nvSpPr>
          <p:cNvPr id="21" name="num_19"/>
          <p:cNvSpPr txBox="1"/>
          <p:nvPr/>
        </p:nvSpPr>
        <p:spPr>
          <a:xfrm>
            <a:off x="7589520" y="5394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_20"/>
          <p:cNvSpPr txBox="1"/>
          <p:nvPr/>
        </p:nvSpPr>
        <p:spPr>
          <a:xfrm>
            <a:off x="8183880" y="52395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Harshita </a:t>
            </a:r>
            <a:r>
              <a:rPr lang="en-US" sz="1500" b="1" dirty="0" err="1">
                <a:solidFill>
                  <a:schemeClr val="bg1"/>
                </a:solidFill>
              </a:rPr>
              <a:t>Rohilla</a:t>
            </a:r>
            <a:r>
              <a:rPr lang="en-US" sz="1500" dirty="0">
                <a:solidFill>
                  <a:schemeClr val="bg1"/>
                </a:solidFill>
              </a:rPr>
              <a:t>— A010175625013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card_21"/>
          <p:cNvSpPr/>
          <p:nvPr/>
        </p:nvSpPr>
        <p:spPr>
          <a:xfrm>
            <a:off x="548640" y="1371600"/>
            <a:ext cx="53035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4" name="badge_2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3" descr="FaTru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_24"/>
          <p:cNvSpPr txBox="1"/>
          <p:nvPr/>
        </p:nvSpPr>
        <p:spPr>
          <a:xfrm>
            <a:off x="822960" y="242316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Supply chains help move products from suppliers to customers. However, problems like floods, strikes, supplier failures, and delivery delays can interrupt this process.</a:t>
            </a:r>
            <a:endParaRPr lang="en-US" sz="2000" dirty="0"/>
          </a:p>
        </p:txBody>
      </p:sp>
      <p:sp>
        <p:nvSpPr>
          <p:cNvPr id="7" name="card_25"/>
          <p:cNvSpPr/>
          <p:nvPr/>
        </p:nvSpPr>
        <p:spPr>
          <a:xfrm>
            <a:off x="548640" y="4480560"/>
            <a:ext cx="530352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/>
        </p:spPr>
      </p:sp>
      <p:sp>
        <p:nvSpPr>
          <p:cNvPr id="8" name="badge_26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_27" descr="FaHi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840834"/>
            <a:ext cx="285293" cy="285293"/>
          </a:xfrm>
          <a:prstGeom prst="rect">
            <a:avLst/>
          </a:prstGeom>
        </p:spPr>
      </p:pic>
      <p:sp>
        <p:nvSpPr>
          <p:cNvPr id="10" name="text_28"/>
          <p:cNvSpPr txBox="1"/>
          <p:nvPr/>
        </p:nvSpPr>
        <p:spPr>
          <a:xfrm>
            <a:off x="822960" y="5349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Traditional systems often identify problems after they have already happened.</a:t>
            </a:r>
            <a:endParaRPr lang="en-US" sz="1800" dirty="0"/>
          </a:p>
        </p:txBody>
      </p:sp>
      <p:sp>
        <p:nvSpPr>
          <p:cNvPr id="11" name="text_29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SupplyShield aims to:</a:t>
            </a:r>
            <a:endParaRPr lang="en-US" sz="2000" dirty="0"/>
          </a:p>
        </p:txBody>
      </p:sp>
      <p:sp>
        <p:nvSpPr>
          <p:cNvPr id="12" name="card_30"/>
          <p:cNvSpPr/>
          <p:nvPr/>
        </p:nvSpPr>
        <p:spPr>
          <a:xfrm>
            <a:off x="6217920" y="1874520"/>
            <a:ext cx="5422392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3" name="badge_31"/>
          <p:cNvSpPr/>
          <p:nvPr/>
        </p:nvSpPr>
        <p:spPr>
          <a:xfrm>
            <a:off x="6355080" y="1965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_3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143" y="2102023"/>
            <a:ext cx="294803" cy="294803"/>
          </a:xfrm>
          <a:prstGeom prst="rect">
            <a:avLst/>
          </a:prstGeom>
        </p:spPr>
      </p:pic>
      <p:sp>
        <p:nvSpPr>
          <p:cNvPr id="15" name="text_33"/>
          <p:cNvSpPr txBox="1"/>
          <p:nvPr/>
        </p:nvSpPr>
        <p:spPr>
          <a:xfrm>
            <a:off x="7086600" y="187452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Identify possible disruptions early.</a:t>
            </a:r>
            <a:endParaRPr lang="en-US" sz="1700" dirty="0"/>
          </a:p>
        </p:txBody>
      </p:sp>
      <p:sp>
        <p:nvSpPr>
          <p:cNvPr id="16" name="card_34"/>
          <p:cNvSpPr/>
          <p:nvPr/>
        </p:nvSpPr>
        <p:spPr>
          <a:xfrm>
            <a:off x="6217920" y="2743200"/>
            <a:ext cx="5422392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7" name="badge_35"/>
          <p:cNvSpPr/>
          <p:nvPr/>
        </p:nvSpPr>
        <p:spPr>
          <a:xfrm>
            <a:off x="6355080" y="2834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_36" descr="FaProject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143" y="2970703"/>
            <a:ext cx="294803" cy="294803"/>
          </a:xfrm>
          <a:prstGeom prst="rect">
            <a:avLst/>
          </a:prstGeom>
        </p:spPr>
      </p:pic>
      <p:sp>
        <p:nvSpPr>
          <p:cNvPr id="19" name="text_37"/>
          <p:cNvSpPr txBox="1"/>
          <p:nvPr/>
        </p:nvSpPr>
        <p:spPr>
          <a:xfrm>
            <a:off x="7086600" y="27432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Analyse information from different sources.</a:t>
            </a:r>
            <a:endParaRPr lang="en-US" sz="1700" dirty="0"/>
          </a:p>
        </p:txBody>
      </p:sp>
      <p:sp>
        <p:nvSpPr>
          <p:cNvPr id="20" name="card_38"/>
          <p:cNvSpPr/>
          <p:nvPr/>
        </p:nvSpPr>
        <p:spPr>
          <a:xfrm>
            <a:off x="6217920" y="3611880"/>
            <a:ext cx="5422392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21" name="badge_39"/>
          <p:cNvSpPr/>
          <p:nvPr/>
        </p:nvSpPr>
        <p:spPr>
          <a:xfrm>
            <a:off x="6355080" y="3703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_40" descr="FaChart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143" y="3839383"/>
            <a:ext cx="294803" cy="294803"/>
          </a:xfrm>
          <a:prstGeom prst="rect">
            <a:avLst/>
          </a:prstGeom>
        </p:spPr>
      </p:pic>
      <p:sp>
        <p:nvSpPr>
          <p:cNvPr id="23" name="text_41"/>
          <p:cNvSpPr txBox="1"/>
          <p:nvPr/>
        </p:nvSpPr>
        <p:spPr>
          <a:xfrm>
            <a:off x="7086600" y="36118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Predict supply-chain risk.</a:t>
            </a:r>
            <a:endParaRPr lang="en-US" sz="1700" dirty="0"/>
          </a:p>
        </p:txBody>
      </p:sp>
      <p:sp>
        <p:nvSpPr>
          <p:cNvPr id="24" name="card_42"/>
          <p:cNvSpPr/>
          <p:nvPr/>
        </p:nvSpPr>
        <p:spPr>
          <a:xfrm>
            <a:off x="6217920" y="4480560"/>
            <a:ext cx="5422392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25" name="badge_43"/>
          <p:cNvSpPr/>
          <p:nvPr/>
        </p:nvSpPr>
        <p:spPr>
          <a:xfrm>
            <a:off x="6355080" y="4572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_44" descr="FaSearc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143" y="4708063"/>
            <a:ext cx="294803" cy="294803"/>
          </a:xfrm>
          <a:prstGeom prst="rect">
            <a:avLst/>
          </a:prstGeom>
        </p:spPr>
      </p:pic>
      <p:sp>
        <p:nvSpPr>
          <p:cNvPr id="27" name="text_45"/>
          <p:cNvSpPr txBox="1"/>
          <p:nvPr/>
        </p:nvSpPr>
        <p:spPr>
          <a:xfrm>
            <a:off x="7086600" y="448056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Explain why a warning was generated.</a:t>
            </a:r>
            <a:endParaRPr lang="en-US" sz="1700" dirty="0"/>
          </a:p>
        </p:txBody>
      </p:sp>
      <p:sp>
        <p:nvSpPr>
          <p:cNvPr id="28" name="card_46"/>
          <p:cNvSpPr/>
          <p:nvPr/>
        </p:nvSpPr>
        <p:spPr>
          <a:xfrm>
            <a:off x="6217920" y="5349240"/>
            <a:ext cx="5422392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29" name="badge_47"/>
          <p:cNvSpPr/>
          <p:nvPr/>
        </p:nvSpPr>
        <p:spPr>
          <a:xfrm>
            <a:off x="6355080" y="54406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_48" descr="FaTachometer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1143" y="5576743"/>
            <a:ext cx="294803" cy="294803"/>
          </a:xfrm>
          <a:prstGeom prst="rect">
            <a:avLst/>
          </a:prstGeom>
        </p:spPr>
      </p:pic>
      <p:sp>
        <p:nvSpPr>
          <p:cNvPr id="31" name="text_49"/>
          <p:cNvSpPr txBox="1"/>
          <p:nvPr/>
        </p:nvSpPr>
        <p:spPr>
          <a:xfrm>
            <a:off x="7086600" y="534924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Display results on an interactive dashboard.</a:t>
            </a:r>
            <a:endParaRPr lang="en-US" sz="1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 and Objectives</a:t>
            </a:r>
            <a:endParaRPr lang="en-US" sz="2800" dirty="0"/>
          </a:p>
        </p:txBody>
      </p:sp>
      <p:sp>
        <p:nvSpPr>
          <p:cNvPr id="3" name="card_50"/>
          <p:cNvSpPr/>
          <p:nvPr/>
        </p:nvSpPr>
        <p:spPr>
          <a:xfrm>
            <a:off x="548640" y="132588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4" name="badge_51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_52" descr="FaExclamation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text_53"/>
          <p:cNvSpPr txBox="1"/>
          <p:nvPr/>
        </p:nvSpPr>
        <p:spPr>
          <a:xfrm>
            <a:off x="1554480" y="1325880"/>
            <a:ext cx="9857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Problem: </a:t>
            </a:r>
            <a:r>
              <a:rPr lang="en-US" sz="1700" dirty="0">
                <a:solidFill>
                  <a:schemeClr val="bg1"/>
                </a:solidFill>
              </a:rPr>
              <a:t>Companies often receive warnings too late, and some AI systems do not clearly explain their predictions.</a:t>
            </a:r>
            <a:endParaRPr lang="en-US" sz="1700" dirty="0"/>
          </a:p>
        </p:txBody>
      </p:sp>
      <p:sp>
        <p:nvSpPr>
          <p:cNvPr id="7" name="text_54"/>
          <p:cNvSpPr txBox="1"/>
          <p:nvPr/>
        </p:nvSpPr>
        <p:spPr>
          <a:xfrm>
            <a:off x="54864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Objectives:</a:t>
            </a:r>
            <a:endParaRPr lang="en-US" sz="2000" dirty="0"/>
          </a:p>
        </p:txBody>
      </p:sp>
      <p:sp>
        <p:nvSpPr>
          <p:cNvPr id="8" name="card_55"/>
          <p:cNvSpPr/>
          <p:nvPr/>
        </p:nvSpPr>
        <p:spPr>
          <a:xfrm>
            <a:off x="548640" y="288036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num_56"/>
          <p:cNvSpPr txBox="1"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_57"/>
          <p:cNvSpPr txBox="1"/>
          <p:nvPr/>
        </p:nvSpPr>
        <p:spPr>
          <a:xfrm>
            <a:off x="1371600" y="288036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Analyse sales, inventory, and delivery information.</a:t>
            </a:r>
            <a:endParaRPr lang="en-US" sz="1700" dirty="0"/>
          </a:p>
        </p:txBody>
      </p:sp>
      <p:sp>
        <p:nvSpPr>
          <p:cNvPr id="11" name="card_58"/>
          <p:cNvSpPr/>
          <p:nvPr/>
        </p:nvSpPr>
        <p:spPr>
          <a:xfrm>
            <a:off x="6126480" y="288036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2" name="num_59"/>
          <p:cNvSpPr txBox="1"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_60"/>
          <p:cNvSpPr txBox="1"/>
          <p:nvPr/>
        </p:nvSpPr>
        <p:spPr>
          <a:xfrm>
            <a:off x="6949440" y="288036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Understand supply-chain-related news.</a:t>
            </a:r>
            <a:endParaRPr lang="en-US" sz="1700" dirty="0"/>
          </a:p>
        </p:txBody>
      </p:sp>
      <p:sp>
        <p:nvSpPr>
          <p:cNvPr id="14" name="card_61"/>
          <p:cNvSpPr/>
          <p:nvPr/>
        </p:nvSpPr>
        <p:spPr>
          <a:xfrm>
            <a:off x="548640" y="397764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5" name="num_62"/>
          <p:cNvSpPr txBox="1"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_63"/>
          <p:cNvSpPr txBox="1"/>
          <p:nvPr/>
        </p:nvSpPr>
        <p:spPr>
          <a:xfrm>
            <a:off x="1371600" y="39776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Identify risks from weather and external events.</a:t>
            </a:r>
            <a:endParaRPr lang="en-US" sz="1700" dirty="0"/>
          </a:p>
        </p:txBody>
      </p:sp>
      <p:sp>
        <p:nvSpPr>
          <p:cNvPr id="17" name="card_64"/>
          <p:cNvSpPr/>
          <p:nvPr/>
        </p:nvSpPr>
        <p:spPr>
          <a:xfrm>
            <a:off x="6126480" y="397764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8" name="num_65"/>
          <p:cNvSpPr txBox="1"/>
          <p:nvPr/>
        </p:nvSpPr>
        <p:spPr>
          <a:xfrm>
            <a:off x="6309360" y="4251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_66"/>
          <p:cNvSpPr txBox="1"/>
          <p:nvPr/>
        </p:nvSpPr>
        <p:spPr>
          <a:xfrm>
            <a:off x="6949440" y="39776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Combine all the information to predict disruptions.</a:t>
            </a:r>
            <a:endParaRPr lang="en-US" sz="1700" dirty="0"/>
          </a:p>
        </p:txBody>
      </p:sp>
      <p:sp>
        <p:nvSpPr>
          <p:cNvPr id="20" name="card_67"/>
          <p:cNvSpPr/>
          <p:nvPr/>
        </p:nvSpPr>
        <p:spPr>
          <a:xfrm>
            <a:off x="548640" y="507492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1" name="num_68"/>
          <p:cNvSpPr txBox="1"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_69"/>
          <p:cNvSpPr txBox="1"/>
          <p:nvPr/>
        </p:nvSpPr>
        <p:spPr>
          <a:xfrm>
            <a:off x="1371600" y="507492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Explain predictions with supporting evidence.</a:t>
            </a:r>
            <a:endParaRPr lang="en-US" sz="1700" dirty="0"/>
          </a:p>
        </p:txBody>
      </p:sp>
      <p:sp>
        <p:nvSpPr>
          <p:cNvPr id="23" name="card_70"/>
          <p:cNvSpPr/>
          <p:nvPr/>
        </p:nvSpPr>
        <p:spPr>
          <a:xfrm>
            <a:off x="6126480" y="5074920"/>
            <a:ext cx="55138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4" name="num_71"/>
          <p:cNvSpPr txBox="1"/>
          <p:nvPr/>
        </p:nvSpPr>
        <p:spPr>
          <a:xfrm>
            <a:off x="6309360" y="5349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_72"/>
          <p:cNvSpPr txBox="1"/>
          <p:nvPr/>
        </p:nvSpPr>
        <p:spPr>
          <a:xfrm>
            <a:off x="6949440" y="507492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Display risk alerts through a dashboard.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card_73"/>
          <p:cNvSpPr/>
          <p:nvPr/>
        </p:nvSpPr>
        <p:spPr>
          <a:xfrm>
            <a:off x="548640" y="2743200"/>
            <a:ext cx="18288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4" name="badge_74"/>
          <p:cNvSpPr/>
          <p:nvPr/>
        </p:nvSpPr>
        <p:spPr>
          <a:xfrm>
            <a:off x="1179576" y="2926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75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39" y="3062143"/>
            <a:ext cx="294803" cy="294803"/>
          </a:xfrm>
          <a:prstGeom prst="rect">
            <a:avLst/>
          </a:prstGeom>
        </p:spPr>
      </p:pic>
      <p:sp>
        <p:nvSpPr>
          <p:cNvPr id="6" name="text_76"/>
          <p:cNvSpPr txBox="1"/>
          <p:nvPr/>
        </p:nvSpPr>
        <p:spPr>
          <a:xfrm>
            <a:off x="64008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 Data</a:t>
            </a:r>
            <a:endParaRPr lang="en-US" sz="1600" dirty="0"/>
          </a:p>
        </p:txBody>
      </p:sp>
      <p:sp>
        <p:nvSpPr>
          <p:cNvPr id="7" name="text_77"/>
          <p:cNvSpPr txBox="1"/>
          <p:nvPr/>
        </p:nvSpPr>
        <p:spPr>
          <a:xfrm>
            <a:off x="640080" y="4160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Sales, inventory, news, weather and location data</a:t>
            </a:r>
            <a:endParaRPr lang="en-US" sz="1400" dirty="0"/>
          </a:p>
        </p:txBody>
      </p:sp>
      <p:sp>
        <p:nvSpPr>
          <p:cNvPr id="8" name="card_78"/>
          <p:cNvSpPr/>
          <p:nvPr/>
        </p:nvSpPr>
        <p:spPr>
          <a:xfrm>
            <a:off x="3017520" y="22402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9" name="badge_79"/>
          <p:cNvSpPr/>
          <p:nvPr/>
        </p:nvSpPr>
        <p:spPr>
          <a:xfrm>
            <a:off x="320040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con_80" descr="FaChart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74" y="2554834"/>
            <a:ext cx="285293" cy="285293"/>
          </a:xfrm>
          <a:prstGeom prst="rect">
            <a:avLst/>
          </a:prstGeom>
        </p:spPr>
      </p:pic>
      <p:sp>
        <p:nvSpPr>
          <p:cNvPr id="11" name="text_81"/>
          <p:cNvSpPr txBox="1"/>
          <p:nvPr/>
        </p:nvSpPr>
        <p:spPr>
          <a:xfrm>
            <a:off x="3886200" y="2240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Time-Series</a:t>
            </a:r>
            <a:endParaRPr lang="en-US" sz="1600" dirty="0"/>
          </a:p>
        </p:txBody>
      </p:sp>
      <p:sp>
        <p:nvSpPr>
          <p:cNvPr id="12" name="arrow_82"/>
          <p:cNvSpPr/>
          <p:nvPr/>
        </p:nvSpPr>
        <p:spPr>
          <a:xfrm flipV="1">
            <a:off x="2432304" y="2697480"/>
            <a:ext cx="530352" cy="1143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arrow_83"/>
          <p:cNvSpPr/>
          <p:nvPr/>
        </p:nvSpPr>
        <p:spPr>
          <a:xfrm>
            <a:off x="5266944" y="2697480"/>
            <a:ext cx="530352" cy="1143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_84"/>
          <p:cNvSpPr/>
          <p:nvPr/>
        </p:nvSpPr>
        <p:spPr>
          <a:xfrm>
            <a:off x="3017520" y="33832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5" name="badge_85"/>
          <p:cNvSpPr/>
          <p:nvPr/>
        </p:nvSpPr>
        <p:spPr>
          <a:xfrm>
            <a:off x="3200400" y="3566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_86" descr="FaNewspa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074" y="3697834"/>
            <a:ext cx="285293" cy="285293"/>
          </a:xfrm>
          <a:prstGeom prst="rect">
            <a:avLst/>
          </a:prstGeom>
        </p:spPr>
      </p:pic>
      <p:sp>
        <p:nvSpPr>
          <p:cNvPr id="17" name="text_87"/>
          <p:cNvSpPr txBox="1"/>
          <p:nvPr/>
        </p:nvSpPr>
        <p:spPr>
          <a:xfrm>
            <a:off x="388620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News NLP</a:t>
            </a:r>
            <a:endParaRPr lang="en-US" sz="1600" dirty="0"/>
          </a:p>
        </p:txBody>
      </p:sp>
      <p:sp>
        <p:nvSpPr>
          <p:cNvPr id="18" name="arrow_88"/>
          <p:cNvSpPr/>
          <p:nvPr/>
        </p:nvSpPr>
        <p:spPr>
          <a:xfrm>
            <a:off x="2432304" y="3840480"/>
            <a:ext cx="53035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arrow_89"/>
          <p:cNvSpPr/>
          <p:nvPr/>
        </p:nvSpPr>
        <p:spPr>
          <a:xfrm>
            <a:off x="5266944" y="3840480"/>
            <a:ext cx="53035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_90"/>
          <p:cNvSpPr/>
          <p:nvPr/>
        </p:nvSpPr>
        <p:spPr>
          <a:xfrm>
            <a:off x="3017520" y="4526280"/>
            <a:ext cx="21945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1" name="badge_91"/>
          <p:cNvSpPr/>
          <p:nvPr/>
        </p:nvSpPr>
        <p:spPr>
          <a:xfrm>
            <a:off x="3200400" y="4709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con_92" descr="FaGlobeAmeric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2074" y="4840834"/>
            <a:ext cx="285293" cy="285293"/>
          </a:xfrm>
          <a:prstGeom prst="rect">
            <a:avLst/>
          </a:prstGeom>
        </p:spPr>
      </p:pic>
      <p:sp>
        <p:nvSpPr>
          <p:cNvPr id="23" name="text_93"/>
          <p:cNvSpPr txBox="1"/>
          <p:nvPr/>
        </p:nvSpPr>
        <p:spPr>
          <a:xfrm>
            <a:off x="3886200" y="4526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Event Risk</a:t>
            </a:r>
            <a:endParaRPr lang="en-US" sz="1600" dirty="0"/>
          </a:p>
        </p:txBody>
      </p:sp>
      <p:sp>
        <p:nvSpPr>
          <p:cNvPr id="24" name="arrow_94"/>
          <p:cNvSpPr/>
          <p:nvPr/>
        </p:nvSpPr>
        <p:spPr>
          <a:xfrm>
            <a:off x="2432304" y="3840480"/>
            <a:ext cx="530352" cy="1143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arrow_95"/>
          <p:cNvSpPr/>
          <p:nvPr/>
        </p:nvSpPr>
        <p:spPr>
          <a:xfrm flipV="1">
            <a:off x="5266944" y="3840480"/>
            <a:ext cx="530352" cy="1143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card_96"/>
          <p:cNvSpPr/>
          <p:nvPr/>
        </p:nvSpPr>
        <p:spPr>
          <a:xfrm>
            <a:off x="5852160" y="2743200"/>
            <a:ext cx="1737360" cy="21945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27" name="badge_97"/>
          <p:cNvSpPr/>
          <p:nvPr/>
        </p:nvSpPr>
        <p:spPr>
          <a:xfrm>
            <a:off x="6437376" y="2926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_98" descr="FaProjectDiagr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3439" y="3062143"/>
            <a:ext cx="294803" cy="294803"/>
          </a:xfrm>
          <a:prstGeom prst="rect">
            <a:avLst/>
          </a:prstGeom>
        </p:spPr>
      </p:pic>
      <p:sp>
        <p:nvSpPr>
          <p:cNvPr id="29" name="text_99"/>
          <p:cNvSpPr txBox="1"/>
          <p:nvPr/>
        </p:nvSpPr>
        <p:spPr>
          <a:xfrm>
            <a:off x="594360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Multimodal Fusion and Prediction</a:t>
            </a:r>
            <a:endParaRPr lang="en-US" sz="1600" dirty="0"/>
          </a:p>
        </p:txBody>
      </p:sp>
      <p:sp>
        <p:nvSpPr>
          <p:cNvPr id="30" name="card_100"/>
          <p:cNvSpPr/>
          <p:nvPr/>
        </p:nvSpPr>
        <p:spPr>
          <a:xfrm>
            <a:off x="7863840" y="2743200"/>
            <a:ext cx="1737360" cy="21945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31" name="badge_101"/>
          <p:cNvSpPr/>
          <p:nvPr/>
        </p:nvSpPr>
        <p:spPr>
          <a:xfrm>
            <a:off x="8449056" y="2926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_102" descr="FaSearc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5119" y="3062143"/>
            <a:ext cx="294803" cy="294803"/>
          </a:xfrm>
          <a:prstGeom prst="rect">
            <a:avLst/>
          </a:prstGeom>
        </p:spPr>
      </p:pic>
      <p:sp>
        <p:nvSpPr>
          <p:cNvPr id="33" name="text_103"/>
          <p:cNvSpPr txBox="1"/>
          <p:nvPr/>
        </p:nvSpPr>
        <p:spPr>
          <a:xfrm>
            <a:off x="795528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Explainability and Integration</a:t>
            </a:r>
            <a:endParaRPr lang="en-US" sz="1600" dirty="0"/>
          </a:p>
        </p:txBody>
      </p:sp>
      <p:sp>
        <p:nvSpPr>
          <p:cNvPr id="34" name="card_104"/>
          <p:cNvSpPr/>
          <p:nvPr/>
        </p:nvSpPr>
        <p:spPr>
          <a:xfrm>
            <a:off x="9875520" y="2743200"/>
            <a:ext cx="1764792" cy="2194560"/>
          </a:xfrm>
          <a:prstGeom prst="roundRect">
            <a:avLst>
              <a:gd name="adj" fmla="val 5181"/>
            </a:avLst>
          </a:prstGeom>
          <a:solidFill>
            <a:schemeClr val="tx1"/>
          </a:solidFill>
          <a:ln/>
        </p:spPr>
      </p:sp>
      <p:sp>
        <p:nvSpPr>
          <p:cNvPr id="35" name="badge_105"/>
          <p:cNvSpPr/>
          <p:nvPr/>
        </p:nvSpPr>
        <p:spPr>
          <a:xfrm>
            <a:off x="10474452" y="2926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con_106" descr="FaTachometer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0515" y="3062143"/>
            <a:ext cx="294803" cy="294803"/>
          </a:xfrm>
          <a:prstGeom prst="rect">
            <a:avLst/>
          </a:prstGeom>
        </p:spPr>
      </p:pic>
      <p:sp>
        <p:nvSpPr>
          <p:cNvPr id="37" name="text_107"/>
          <p:cNvSpPr txBox="1"/>
          <p:nvPr/>
        </p:nvSpPr>
        <p:spPr>
          <a:xfrm>
            <a:off x="9966960" y="3611880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Early-Warning Dashboard</a:t>
            </a:r>
            <a:endParaRPr lang="en-US" sz="1600" dirty="0"/>
          </a:p>
        </p:txBody>
      </p:sp>
      <p:sp>
        <p:nvSpPr>
          <p:cNvPr id="38" name="text_108"/>
          <p:cNvSpPr txBox="1"/>
          <p:nvPr/>
        </p:nvSpPr>
        <p:spPr>
          <a:xfrm>
            <a:off x="9966960" y="4160520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Risk, evidence and explanation</a:t>
            </a:r>
            <a:endParaRPr lang="en-US" sz="1400" dirty="0"/>
          </a:p>
        </p:txBody>
      </p:sp>
      <p:sp>
        <p:nvSpPr>
          <p:cNvPr id="39" name="arrow_109"/>
          <p:cNvSpPr/>
          <p:nvPr/>
        </p:nvSpPr>
        <p:spPr>
          <a:xfrm>
            <a:off x="7644384" y="3840480"/>
            <a:ext cx="16459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arrow_110"/>
          <p:cNvSpPr/>
          <p:nvPr/>
        </p:nvSpPr>
        <p:spPr>
          <a:xfrm>
            <a:off x="9656064" y="3840480"/>
            <a:ext cx="16459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3" name="text_111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project uses these main technologies:</a:t>
            </a:r>
            <a:endParaRPr lang="en-US" sz="1800" dirty="0"/>
          </a:p>
        </p:txBody>
      </p:sp>
      <p:sp>
        <p:nvSpPr>
          <p:cNvPr id="4" name="card_112"/>
          <p:cNvSpPr/>
          <p:nvPr/>
        </p:nvSpPr>
        <p:spPr>
          <a:xfrm>
            <a:off x="548640" y="1783080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5" name="badge_113"/>
          <p:cNvSpPr/>
          <p:nvPr/>
        </p:nvSpPr>
        <p:spPr>
          <a:xfrm>
            <a:off x="731520" y="2066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_114" descr="Fa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2198218"/>
            <a:ext cx="285293" cy="285293"/>
          </a:xfrm>
          <a:prstGeom prst="rect">
            <a:avLst/>
          </a:prstGeom>
        </p:spPr>
      </p:pic>
      <p:sp>
        <p:nvSpPr>
          <p:cNvPr id="7" name="text_115"/>
          <p:cNvSpPr txBox="1"/>
          <p:nvPr/>
        </p:nvSpPr>
        <p:spPr>
          <a:xfrm>
            <a:off x="1463040" y="1783080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Python: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Main programming language.</a:t>
            </a:r>
            <a:endParaRPr lang="en-US" sz="1600" dirty="0"/>
          </a:p>
        </p:txBody>
      </p:sp>
      <p:sp>
        <p:nvSpPr>
          <p:cNvPr id="8" name="card_116"/>
          <p:cNvSpPr/>
          <p:nvPr/>
        </p:nvSpPr>
        <p:spPr>
          <a:xfrm>
            <a:off x="4270248" y="1783080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9" name="badge_117"/>
          <p:cNvSpPr/>
          <p:nvPr/>
        </p:nvSpPr>
        <p:spPr>
          <a:xfrm>
            <a:off x="4453128" y="2066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118" descr="Fa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802" y="2198218"/>
            <a:ext cx="285293" cy="285293"/>
          </a:xfrm>
          <a:prstGeom prst="rect">
            <a:avLst/>
          </a:prstGeom>
        </p:spPr>
      </p:pic>
      <p:sp>
        <p:nvSpPr>
          <p:cNvPr id="11" name="text_119"/>
          <p:cNvSpPr txBox="1"/>
          <p:nvPr/>
        </p:nvSpPr>
        <p:spPr>
          <a:xfrm>
            <a:off x="5184648" y="1783080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Pandas and NumPy: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Data cleaning and numerical calculations.</a:t>
            </a:r>
            <a:endParaRPr lang="en-US" sz="1600" dirty="0"/>
          </a:p>
        </p:txBody>
      </p:sp>
      <p:sp>
        <p:nvSpPr>
          <p:cNvPr id="12" name="card_120"/>
          <p:cNvSpPr/>
          <p:nvPr/>
        </p:nvSpPr>
        <p:spPr>
          <a:xfrm>
            <a:off x="7991856" y="1783080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13" name="badge_121"/>
          <p:cNvSpPr/>
          <p:nvPr/>
        </p:nvSpPr>
        <p:spPr>
          <a:xfrm>
            <a:off x="8174736" y="2066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_122" descr="FaCo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0" y="2198218"/>
            <a:ext cx="285293" cy="285293"/>
          </a:xfrm>
          <a:prstGeom prst="rect">
            <a:avLst/>
          </a:prstGeom>
        </p:spPr>
      </p:pic>
      <p:sp>
        <p:nvSpPr>
          <p:cNvPr id="15" name="text_123"/>
          <p:cNvSpPr txBox="1"/>
          <p:nvPr/>
        </p:nvSpPr>
        <p:spPr>
          <a:xfrm>
            <a:off x="8906256" y="1783080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Scikit-learn: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Machine-learning models.</a:t>
            </a:r>
            <a:endParaRPr lang="en-US" sz="1600" dirty="0"/>
          </a:p>
        </p:txBody>
      </p:sp>
      <p:sp>
        <p:nvSpPr>
          <p:cNvPr id="16" name="card_124"/>
          <p:cNvSpPr/>
          <p:nvPr/>
        </p:nvSpPr>
        <p:spPr>
          <a:xfrm>
            <a:off x="548640" y="3044952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17" name="badge_125"/>
          <p:cNvSpPr/>
          <p:nvPr/>
        </p:nvSpPr>
        <p:spPr>
          <a:xfrm>
            <a:off x="731520" y="33284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_126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3460090"/>
            <a:ext cx="285293" cy="285293"/>
          </a:xfrm>
          <a:prstGeom prst="rect">
            <a:avLst/>
          </a:prstGeom>
        </p:spPr>
      </p:pic>
      <p:sp>
        <p:nvSpPr>
          <p:cNvPr id="19" name="text_127"/>
          <p:cNvSpPr txBox="1"/>
          <p:nvPr/>
        </p:nvSpPr>
        <p:spPr>
          <a:xfrm>
            <a:off x="1463040" y="3044952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PyTorch: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Neural-network development.</a:t>
            </a:r>
            <a:endParaRPr lang="en-US" sz="1600" dirty="0"/>
          </a:p>
        </p:txBody>
      </p:sp>
      <p:sp>
        <p:nvSpPr>
          <p:cNvPr id="20" name="card_128"/>
          <p:cNvSpPr/>
          <p:nvPr/>
        </p:nvSpPr>
        <p:spPr>
          <a:xfrm>
            <a:off x="4270248" y="3044952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21" name="badge_129"/>
          <p:cNvSpPr/>
          <p:nvPr/>
        </p:nvSpPr>
        <p:spPr>
          <a:xfrm>
            <a:off x="4453128" y="33284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_130" descr="FaLangu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802" y="3460090"/>
            <a:ext cx="285293" cy="285293"/>
          </a:xfrm>
          <a:prstGeom prst="rect">
            <a:avLst/>
          </a:prstGeom>
        </p:spPr>
      </p:pic>
      <p:sp>
        <p:nvSpPr>
          <p:cNvPr id="23" name="text_131"/>
          <p:cNvSpPr txBox="1"/>
          <p:nvPr/>
        </p:nvSpPr>
        <p:spPr>
          <a:xfrm>
            <a:off x="5184648" y="3044952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Sentence Transformers: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Understanding news text.</a:t>
            </a:r>
            <a:endParaRPr lang="en-US" sz="1600" dirty="0"/>
          </a:p>
        </p:txBody>
      </p:sp>
      <p:sp>
        <p:nvSpPr>
          <p:cNvPr id="24" name="card_132"/>
          <p:cNvSpPr/>
          <p:nvPr/>
        </p:nvSpPr>
        <p:spPr>
          <a:xfrm>
            <a:off x="7991856" y="3044952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25" name="badge_133"/>
          <p:cNvSpPr/>
          <p:nvPr/>
        </p:nvSpPr>
        <p:spPr>
          <a:xfrm>
            <a:off x="8174736" y="33284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_134" descr="FaSearc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410" y="3460090"/>
            <a:ext cx="285293" cy="285293"/>
          </a:xfrm>
          <a:prstGeom prst="rect">
            <a:avLst/>
          </a:prstGeom>
        </p:spPr>
      </p:pic>
      <p:sp>
        <p:nvSpPr>
          <p:cNvPr id="27" name="text_135"/>
          <p:cNvSpPr txBox="1"/>
          <p:nvPr/>
        </p:nvSpPr>
        <p:spPr>
          <a:xfrm>
            <a:off x="8906256" y="3044952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SHAP: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Explaining model predictions.</a:t>
            </a:r>
            <a:endParaRPr lang="en-US" sz="1600" dirty="0"/>
          </a:p>
        </p:txBody>
      </p:sp>
      <p:sp>
        <p:nvSpPr>
          <p:cNvPr id="28" name="card_136"/>
          <p:cNvSpPr/>
          <p:nvPr/>
        </p:nvSpPr>
        <p:spPr>
          <a:xfrm>
            <a:off x="548640" y="4306824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29" name="badge_137"/>
          <p:cNvSpPr/>
          <p:nvPr/>
        </p:nvSpPr>
        <p:spPr>
          <a:xfrm>
            <a:off x="731520" y="45902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_138" descr="FaCod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4" y="4721962"/>
            <a:ext cx="285293" cy="285293"/>
          </a:xfrm>
          <a:prstGeom prst="rect">
            <a:avLst/>
          </a:prstGeom>
        </p:spPr>
      </p:pic>
      <p:sp>
        <p:nvSpPr>
          <p:cNvPr id="31" name="text_139"/>
          <p:cNvSpPr txBox="1"/>
          <p:nvPr/>
        </p:nvSpPr>
        <p:spPr>
          <a:xfrm>
            <a:off x="1463040" y="4306824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HTML, CSS and JavaScript: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Creating the web dashboard.</a:t>
            </a:r>
            <a:endParaRPr lang="en-US" sz="1600" dirty="0"/>
          </a:p>
        </p:txBody>
      </p:sp>
      <p:sp>
        <p:nvSpPr>
          <p:cNvPr id="32" name="card_140"/>
          <p:cNvSpPr/>
          <p:nvPr/>
        </p:nvSpPr>
        <p:spPr>
          <a:xfrm>
            <a:off x="4270248" y="4306824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33" name="badge_141"/>
          <p:cNvSpPr/>
          <p:nvPr/>
        </p:nvSpPr>
        <p:spPr>
          <a:xfrm>
            <a:off x="4453128" y="45902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_142" descr="FaChartBa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802" y="4721962"/>
            <a:ext cx="285293" cy="285293"/>
          </a:xfrm>
          <a:prstGeom prst="rect">
            <a:avLst/>
          </a:prstGeom>
        </p:spPr>
      </p:pic>
      <p:sp>
        <p:nvSpPr>
          <p:cNvPr id="35" name="text_143"/>
          <p:cNvSpPr txBox="1"/>
          <p:nvPr/>
        </p:nvSpPr>
        <p:spPr>
          <a:xfrm>
            <a:off x="5184648" y="4306824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Chart.js: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Displaying charts and risk information.</a:t>
            </a:r>
            <a:endParaRPr lang="en-US" sz="1600" dirty="0"/>
          </a:p>
        </p:txBody>
      </p:sp>
      <p:sp>
        <p:nvSpPr>
          <p:cNvPr id="36" name="card_144"/>
          <p:cNvSpPr/>
          <p:nvPr/>
        </p:nvSpPr>
        <p:spPr>
          <a:xfrm>
            <a:off x="7991856" y="4306824"/>
            <a:ext cx="3648456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37" name="badge_145"/>
          <p:cNvSpPr/>
          <p:nvPr/>
        </p:nvSpPr>
        <p:spPr>
          <a:xfrm>
            <a:off x="8174736" y="45902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_146" descr="FaGithu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410" y="4721962"/>
            <a:ext cx="285293" cy="285293"/>
          </a:xfrm>
          <a:prstGeom prst="rect">
            <a:avLst/>
          </a:prstGeom>
        </p:spPr>
      </p:pic>
      <p:sp>
        <p:nvSpPr>
          <p:cNvPr id="39" name="text_147"/>
          <p:cNvSpPr txBox="1"/>
          <p:nvPr/>
        </p:nvSpPr>
        <p:spPr>
          <a:xfrm>
            <a:off x="8906256" y="4306824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GitHub and Vercel: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Code management and dashboard deployment.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Person 1: Supply-Chain Time-Series Intelligence</a:t>
            </a:r>
            <a:endParaRPr lang="en-US" sz="2800" dirty="0"/>
          </a:p>
        </p:txBody>
      </p:sp>
      <p:sp>
        <p:nvSpPr>
          <p:cNvPr id="3" name="badge_150"/>
          <p:cNvSpPr/>
          <p:nvPr/>
        </p:nvSpPr>
        <p:spPr>
          <a:xfrm>
            <a:off x="548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51" descr="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243950"/>
            <a:ext cx="218724" cy="218724"/>
          </a:xfrm>
          <a:prstGeom prst="rect">
            <a:avLst/>
          </a:prstGeom>
        </p:spPr>
      </p:pic>
      <p:sp>
        <p:nvSpPr>
          <p:cNvPr id="5" name="libchip_152"/>
          <p:cNvSpPr txBox="1"/>
          <p:nvPr/>
        </p:nvSpPr>
        <p:spPr>
          <a:xfrm>
            <a:off x="1097280" y="114300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Library: </a:t>
            </a:r>
            <a:r>
              <a:rPr lang="en-US" sz="1600" b="1" dirty="0">
                <a:solidFill>
                  <a:schemeClr val="bg1"/>
                </a:solidFill>
              </a:rPr>
              <a:t>SupplyChainTimeSeries</a:t>
            </a:r>
            <a:endParaRPr lang="en-US" sz="1600" dirty="0"/>
          </a:p>
        </p:txBody>
      </p:sp>
      <p:sp>
        <p:nvSpPr>
          <p:cNvPr id="6" name="text_153"/>
          <p:cNvSpPr txBox="1"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role is to analyse historical supply-chain data.</a:t>
            </a:r>
            <a:endParaRPr lang="en-US" sz="1800" dirty="0"/>
          </a:p>
        </p:txBody>
      </p:sp>
      <p:sp>
        <p:nvSpPr>
          <p:cNvPr id="7" name="card_154"/>
          <p:cNvSpPr/>
          <p:nvPr/>
        </p:nvSpPr>
        <p:spPr>
          <a:xfrm>
            <a:off x="548640" y="2423160"/>
            <a:ext cx="640080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8" name="text_155"/>
          <p:cNvSpPr txBox="1"/>
          <p:nvPr/>
        </p:nvSpPr>
        <p:spPr>
          <a:xfrm>
            <a:off x="822960" y="260604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Main tasks: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Clean sales, inventory and delivery data.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Analyse demand and supplier lead times.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Create lag features and moving averages.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Detect unusual changes.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Calculate inventory and time-based risk.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Forecast future demand.</a:t>
            </a:r>
            <a:endParaRPr lang="en-US" sz="1400" dirty="0"/>
          </a:p>
        </p:txBody>
      </p:sp>
      <p:sp>
        <p:nvSpPr>
          <p:cNvPr id="9" name="card_156"/>
          <p:cNvSpPr/>
          <p:nvPr/>
        </p:nvSpPr>
        <p:spPr>
          <a:xfrm>
            <a:off x="7178040" y="2423160"/>
            <a:ext cx="446227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text_157"/>
          <p:cNvSpPr txBox="1"/>
          <p:nvPr/>
        </p:nvSpPr>
        <p:spPr>
          <a:xfrm>
            <a:off x="7406640" y="242316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Technologies: </a:t>
            </a:r>
            <a:r>
              <a:rPr lang="en-US" sz="1800" dirty="0">
                <a:solidFill>
                  <a:srgbClr val="000000"/>
                </a:solidFill>
              </a:rPr>
              <a:t>Python, Pandas, NumPy and Scikit-learn.</a:t>
            </a:r>
            <a:endParaRPr lang="en-US" sz="1800" dirty="0"/>
          </a:p>
        </p:txBody>
      </p:sp>
      <p:sp>
        <p:nvSpPr>
          <p:cNvPr id="11" name="card_158"/>
          <p:cNvSpPr/>
          <p:nvPr/>
        </p:nvSpPr>
        <p:spPr>
          <a:xfrm>
            <a:off x="7178040" y="4297680"/>
            <a:ext cx="4462272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/>
        </p:spPr>
      </p:sp>
      <p:sp>
        <p:nvSpPr>
          <p:cNvPr id="12" name="text_159"/>
          <p:cNvSpPr txBox="1"/>
          <p:nvPr/>
        </p:nvSpPr>
        <p:spPr>
          <a:xfrm>
            <a:off x="7406640" y="429768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Example: </a:t>
            </a:r>
            <a:r>
              <a:rPr lang="en-US" sz="1800" dirty="0">
                <a:solidFill>
                  <a:schemeClr val="bg1"/>
                </a:solidFill>
              </a:rPr>
              <a:t>If demand increases while inventory decreases, the system can identify a possible shortage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Person 2: News Intelligence</a:t>
            </a:r>
            <a:endParaRPr lang="en-US" sz="2800" dirty="0"/>
          </a:p>
        </p:txBody>
      </p:sp>
      <p:sp>
        <p:nvSpPr>
          <p:cNvPr id="3" name="badge_160"/>
          <p:cNvSpPr/>
          <p:nvPr/>
        </p:nvSpPr>
        <p:spPr>
          <a:xfrm>
            <a:off x="548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61" descr="FaNews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243950"/>
            <a:ext cx="218724" cy="218724"/>
          </a:xfrm>
          <a:prstGeom prst="rect">
            <a:avLst/>
          </a:prstGeom>
        </p:spPr>
      </p:pic>
      <p:sp>
        <p:nvSpPr>
          <p:cNvPr id="5" name="libchip_162"/>
          <p:cNvSpPr txBox="1"/>
          <p:nvPr/>
        </p:nvSpPr>
        <p:spPr>
          <a:xfrm>
            <a:off x="1097280" y="114300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Library: </a:t>
            </a:r>
            <a:r>
              <a:rPr lang="en-US" sz="1600" b="1" dirty="0">
                <a:solidFill>
                  <a:schemeClr val="bg1"/>
                </a:solidFill>
              </a:rPr>
              <a:t>NewsIntelligence</a:t>
            </a:r>
            <a:endParaRPr lang="en-US" sz="1600" dirty="0"/>
          </a:p>
        </p:txBody>
      </p:sp>
      <p:sp>
        <p:nvSpPr>
          <p:cNvPr id="6" name="text_163"/>
          <p:cNvSpPr txBox="1"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role is to analyse news articles and identify supply-chain-related events.</a:t>
            </a:r>
            <a:endParaRPr lang="en-US" sz="1800" dirty="0"/>
          </a:p>
        </p:txBody>
      </p:sp>
      <p:sp>
        <p:nvSpPr>
          <p:cNvPr id="7" name="card_164"/>
          <p:cNvSpPr/>
          <p:nvPr/>
        </p:nvSpPr>
        <p:spPr>
          <a:xfrm>
            <a:off x="548640" y="2423160"/>
            <a:ext cx="640080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8" name="text_165"/>
          <p:cNvSpPr txBox="1"/>
          <p:nvPr/>
        </p:nvSpPr>
        <p:spPr>
          <a:xfrm>
            <a:off x="822960" y="260604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Main tasks: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Process news headlines.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Identify companies, suppliers and locations.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Detect events such as strikes and port closures.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Analyse sentiment and event relevance.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Convert text into useful numerical features.</a:t>
            </a:r>
            <a:endParaRPr lang="en-US" sz="1400" dirty="0"/>
          </a:p>
        </p:txBody>
      </p:sp>
      <p:sp>
        <p:nvSpPr>
          <p:cNvPr id="9" name="card_166"/>
          <p:cNvSpPr/>
          <p:nvPr/>
        </p:nvSpPr>
        <p:spPr>
          <a:xfrm>
            <a:off x="7178040" y="2423160"/>
            <a:ext cx="446227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text_167"/>
          <p:cNvSpPr txBox="1"/>
          <p:nvPr/>
        </p:nvSpPr>
        <p:spPr>
          <a:xfrm>
            <a:off x="7406640" y="242316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Technologies: </a:t>
            </a:r>
            <a:r>
              <a:rPr lang="en-US" sz="1800" dirty="0">
                <a:solidFill>
                  <a:srgbClr val="000000"/>
                </a:solidFill>
              </a:rPr>
              <a:t>Python, NLP, Sentence Transformers and sentiment analysis.</a:t>
            </a:r>
            <a:endParaRPr lang="en-US" sz="1800" dirty="0"/>
          </a:p>
        </p:txBody>
      </p:sp>
      <p:sp>
        <p:nvSpPr>
          <p:cNvPr id="11" name="card_168"/>
          <p:cNvSpPr/>
          <p:nvPr/>
        </p:nvSpPr>
        <p:spPr>
          <a:xfrm>
            <a:off x="7178040" y="4297680"/>
            <a:ext cx="4462272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/>
        </p:spPr>
      </p:sp>
      <p:sp>
        <p:nvSpPr>
          <p:cNvPr id="12" name="text_169"/>
          <p:cNvSpPr txBox="1"/>
          <p:nvPr/>
        </p:nvSpPr>
        <p:spPr>
          <a:xfrm>
            <a:off x="7406640" y="429768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Example: </a:t>
            </a:r>
            <a:r>
              <a:rPr lang="en-US" sz="1800" dirty="0">
                <a:solidFill>
                  <a:schemeClr val="bg1"/>
                </a:solidFill>
              </a:rPr>
              <a:t>A news article about a port strike can provide an early signal of possible delivery delays.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Person 3: External Event and Spatial Intelligence</a:t>
            </a:r>
            <a:endParaRPr lang="en-US" sz="2800" dirty="0"/>
          </a:p>
        </p:txBody>
      </p:sp>
      <p:sp>
        <p:nvSpPr>
          <p:cNvPr id="3" name="badge_170"/>
          <p:cNvSpPr/>
          <p:nvPr/>
        </p:nvSpPr>
        <p:spPr>
          <a:xfrm>
            <a:off x="548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71" descr="FaGlobeAmeric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243950"/>
            <a:ext cx="218724" cy="218724"/>
          </a:xfrm>
          <a:prstGeom prst="rect">
            <a:avLst/>
          </a:prstGeom>
        </p:spPr>
      </p:pic>
      <p:sp>
        <p:nvSpPr>
          <p:cNvPr id="5" name="libchip_172"/>
          <p:cNvSpPr txBox="1"/>
          <p:nvPr/>
        </p:nvSpPr>
        <p:spPr>
          <a:xfrm>
            <a:off x="1097280" y="114300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Library: </a:t>
            </a:r>
            <a:r>
              <a:rPr lang="en-US" sz="1600" b="1" dirty="0">
                <a:solidFill>
                  <a:schemeClr val="bg1"/>
                </a:solidFill>
              </a:rPr>
              <a:t>SupplyChainEventRisk</a:t>
            </a:r>
            <a:endParaRPr lang="en-US" sz="1600" dirty="0"/>
          </a:p>
        </p:txBody>
      </p:sp>
      <p:sp>
        <p:nvSpPr>
          <p:cNvPr id="6" name="text_173"/>
          <p:cNvSpPr txBox="1"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role is to analyse external events and their possible effects on supply-chain locations.</a:t>
            </a:r>
            <a:endParaRPr lang="en-US" sz="1800" dirty="0"/>
          </a:p>
        </p:txBody>
      </p:sp>
      <p:sp>
        <p:nvSpPr>
          <p:cNvPr id="7" name="card_174"/>
          <p:cNvSpPr/>
          <p:nvPr/>
        </p:nvSpPr>
        <p:spPr>
          <a:xfrm>
            <a:off x="548640" y="2423160"/>
            <a:ext cx="640080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8" name="text_175"/>
          <p:cNvSpPr txBox="1"/>
          <p:nvPr/>
        </p:nvSpPr>
        <p:spPr>
          <a:xfrm>
            <a:off x="822960" y="260604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Main tasks: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Identify weather events and natural disasters.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Analyse geopolitical and infrastructure problems.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Match events with locations and dates.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Calculate event severity.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Map risks to suppliers, ports and transport routes.</a:t>
            </a:r>
            <a:endParaRPr lang="en-US" sz="1400" dirty="0"/>
          </a:p>
        </p:txBody>
      </p:sp>
      <p:sp>
        <p:nvSpPr>
          <p:cNvPr id="9" name="card_176"/>
          <p:cNvSpPr/>
          <p:nvPr/>
        </p:nvSpPr>
        <p:spPr>
          <a:xfrm>
            <a:off x="7178040" y="2423160"/>
            <a:ext cx="446227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text_177"/>
          <p:cNvSpPr txBox="1"/>
          <p:nvPr/>
        </p:nvSpPr>
        <p:spPr>
          <a:xfrm>
            <a:off x="7406640" y="242316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Technologies: </a:t>
            </a:r>
            <a:r>
              <a:rPr lang="en-US" sz="1800" dirty="0">
                <a:solidFill>
                  <a:srgbClr val="000000"/>
                </a:solidFill>
              </a:rPr>
              <a:t>Python, geographical data processing and spatial analysis.</a:t>
            </a:r>
            <a:endParaRPr lang="en-US" sz="1800" dirty="0"/>
          </a:p>
        </p:txBody>
      </p:sp>
      <p:sp>
        <p:nvSpPr>
          <p:cNvPr id="11" name="card_178"/>
          <p:cNvSpPr/>
          <p:nvPr/>
        </p:nvSpPr>
        <p:spPr>
          <a:xfrm>
            <a:off x="7178040" y="4297680"/>
            <a:ext cx="4462272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/>
        </p:spPr>
      </p:sp>
      <p:sp>
        <p:nvSpPr>
          <p:cNvPr id="12" name="text_179"/>
          <p:cNvSpPr txBox="1"/>
          <p:nvPr/>
        </p:nvSpPr>
        <p:spPr>
          <a:xfrm>
            <a:off x="7406640" y="429768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Example: </a:t>
            </a:r>
            <a:r>
              <a:rPr lang="en-US" sz="1800" dirty="0">
                <a:solidFill>
                  <a:schemeClr val="bg1"/>
                </a:solidFill>
              </a:rPr>
              <a:t>A flood near a supplier’s transport route may increase the risk of delivery disruption.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Person 4: Multimodal Fusion and Early Warning</a:t>
            </a:r>
            <a:endParaRPr lang="en-US" sz="2800" dirty="0"/>
          </a:p>
        </p:txBody>
      </p:sp>
      <p:sp>
        <p:nvSpPr>
          <p:cNvPr id="3" name="badge_180"/>
          <p:cNvSpPr/>
          <p:nvPr/>
        </p:nvSpPr>
        <p:spPr>
          <a:xfrm>
            <a:off x="548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81" descr="FaProject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243950"/>
            <a:ext cx="218724" cy="218724"/>
          </a:xfrm>
          <a:prstGeom prst="rect">
            <a:avLst/>
          </a:prstGeom>
        </p:spPr>
      </p:pic>
      <p:sp>
        <p:nvSpPr>
          <p:cNvPr id="5" name="libchip_182"/>
          <p:cNvSpPr txBox="1"/>
          <p:nvPr/>
        </p:nvSpPr>
        <p:spPr>
          <a:xfrm>
            <a:off x="1097280" y="114300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Library: </a:t>
            </a:r>
            <a:r>
              <a:rPr lang="en-US" sz="1600" b="1" dirty="0">
                <a:solidFill>
                  <a:schemeClr val="bg1"/>
                </a:solidFill>
              </a:rPr>
              <a:t>MultimodalWarning</a:t>
            </a:r>
            <a:endParaRPr lang="en-US" sz="1600" dirty="0"/>
          </a:p>
        </p:txBody>
      </p:sp>
      <p:sp>
        <p:nvSpPr>
          <p:cNvPr id="6" name="text_183"/>
          <p:cNvSpPr txBox="1"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role is to combine information from the first three modules and predict disruption risk.</a:t>
            </a:r>
            <a:endParaRPr lang="en-US" sz="1800" dirty="0"/>
          </a:p>
        </p:txBody>
      </p:sp>
      <p:sp>
        <p:nvSpPr>
          <p:cNvPr id="7" name="card_184"/>
          <p:cNvSpPr/>
          <p:nvPr/>
        </p:nvSpPr>
        <p:spPr>
          <a:xfrm>
            <a:off x="548640" y="2423160"/>
            <a:ext cx="640080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8" name="text_185"/>
          <p:cNvSpPr txBox="1"/>
          <p:nvPr/>
        </p:nvSpPr>
        <p:spPr>
          <a:xfrm>
            <a:off x="822960" y="260604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Main tasks: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Combine time-series, news and event features.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Align data from different sources.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Predict disruption probability.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Classify risk and possible disruption type.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Estimate when a disruption may occur.</a:t>
            </a:r>
            <a:endParaRPr lang="en-US" sz="1400" dirty="0"/>
          </a:p>
        </p:txBody>
      </p:sp>
      <p:sp>
        <p:nvSpPr>
          <p:cNvPr id="9" name="card_186"/>
          <p:cNvSpPr/>
          <p:nvPr/>
        </p:nvSpPr>
        <p:spPr>
          <a:xfrm>
            <a:off x="7178040" y="2423160"/>
            <a:ext cx="446227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text_187"/>
          <p:cNvSpPr txBox="1"/>
          <p:nvPr/>
        </p:nvSpPr>
        <p:spPr>
          <a:xfrm>
            <a:off x="7406640" y="242316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Technologies: </a:t>
            </a:r>
            <a:r>
              <a:rPr lang="en-US" sz="1800" dirty="0">
                <a:solidFill>
                  <a:srgbClr val="000000"/>
                </a:solidFill>
              </a:rPr>
              <a:t>Python, PyTorch, machine learning and multimodal fusion.</a:t>
            </a:r>
            <a:endParaRPr lang="en-US" sz="1800" dirty="0"/>
          </a:p>
        </p:txBody>
      </p:sp>
      <p:sp>
        <p:nvSpPr>
          <p:cNvPr id="11" name="card_188"/>
          <p:cNvSpPr/>
          <p:nvPr/>
        </p:nvSpPr>
        <p:spPr>
          <a:xfrm>
            <a:off x="7178040" y="4297680"/>
            <a:ext cx="4462272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/>
        </p:spPr>
      </p:sp>
      <p:sp>
        <p:nvSpPr>
          <p:cNvPr id="12" name="text_189"/>
          <p:cNvSpPr txBox="1"/>
          <p:nvPr/>
        </p:nvSpPr>
        <p:spPr>
          <a:xfrm>
            <a:off x="7406640" y="429768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Example: </a:t>
            </a:r>
            <a:r>
              <a:rPr lang="en-US" sz="1800" dirty="0">
                <a:solidFill>
                  <a:schemeClr val="bg1"/>
                </a:solidFill>
              </a:rPr>
              <a:t>Increasing lead time, a port-strike report and a flood warning together may indicate a higher disruption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Person 5: Explainability and Integration</a:t>
            </a:r>
            <a:endParaRPr lang="en-US" sz="2800" dirty="0"/>
          </a:p>
        </p:txBody>
      </p:sp>
      <p:sp>
        <p:nvSpPr>
          <p:cNvPr id="3" name="badge_190"/>
          <p:cNvSpPr/>
          <p:nvPr/>
        </p:nvSpPr>
        <p:spPr>
          <a:xfrm>
            <a:off x="548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_191" descr="Fa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243950"/>
            <a:ext cx="218724" cy="218724"/>
          </a:xfrm>
          <a:prstGeom prst="rect">
            <a:avLst/>
          </a:prstGeom>
        </p:spPr>
      </p:pic>
      <p:sp>
        <p:nvSpPr>
          <p:cNvPr id="5" name="libchip_192"/>
          <p:cNvSpPr txBox="1"/>
          <p:nvPr/>
        </p:nvSpPr>
        <p:spPr>
          <a:xfrm>
            <a:off x="1097280" y="114300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Library: </a:t>
            </a:r>
            <a:r>
              <a:rPr lang="en-US" sz="1600" b="1" dirty="0">
                <a:solidFill>
                  <a:schemeClr val="bg1"/>
                </a:solidFill>
              </a:rPr>
              <a:t>ExplainableWarning</a:t>
            </a:r>
            <a:endParaRPr lang="en-US" sz="1600" dirty="0"/>
          </a:p>
        </p:txBody>
      </p:sp>
      <p:sp>
        <p:nvSpPr>
          <p:cNvPr id="6" name="text_193"/>
          <p:cNvSpPr txBox="1"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My role is to explain the prediction and connect the different modules into one system.</a:t>
            </a:r>
            <a:endParaRPr lang="en-US" sz="1800" dirty="0"/>
          </a:p>
        </p:txBody>
      </p:sp>
      <p:sp>
        <p:nvSpPr>
          <p:cNvPr id="7" name="card_194"/>
          <p:cNvSpPr/>
          <p:nvPr/>
        </p:nvSpPr>
        <p:spPr>
          <a:xfrm>
            <a:off x="548640" y="2423160"/>
            <a:ext cx="640080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8" name="text_195"/>
          <p:cNvSpPr txBox="1"/>
          <p:nvPr/>
        </p:nvSpPr>
        <p:spPr>
          <a:xfrm>
            <a:off x="822960" y="260604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Main tasks: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Explain which factors influenced the prediction.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Use SHAP to measure feature contributions.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Check warnings against supporting evidence.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Communicate uncertainty.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Generate simple explanations for users.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Connect the modules to the dashboard.</a:t>
            </a:r>
            <a:endParaRPr lang="en-US" sz="1400" dirty="0"/>
          </a:p>
        </p:txBody>
      </p:sp>
      <p:sp>
        <p:nvSpPr>
          <p:cNvPr id="9" name="card_196"/>
          <p:cNvSpPr/>
          <p:nvPr/>
        </p:nvSpPr>
        <p:spPr>
          <a:xfrm>
            <a:off x="7178040" y="2423160"/>
            <a:ext cx="446227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text_197"/>
          <p:cNvSpPr txBox="1"/>
          <p:nvPr/>
        </p:nvSpPr>
        <p:spPr>
          <a:xfrm>
            <a:off x="7406640" y="242316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Technologies: </a:t>
            </a:r>
            <a:r>
              <a:rPr lang="en-US" sz="1800" dirty="0">
                <a:solidFill>
                  <a:srgbClr val="000000"/>
                </a:solidFill>
              </a:rPr>
              <a:t>Python, SHAP, SciPy, HTML, CSS, JavaScript and Chart.js.</a:t>
            </a:r>
            <a:endParaRPr lang="en-US" sz="1800" dirty="0"/>
          </a:p>
        </p:txBody>
      </p:sp>
      <p:sp>
        <p:nvSpPr>
          <p:cNvPr id="11" name="card_198"/>
          <p:cNvSpPr/>
          <p:nvPr/>
        </p:nvSpPr>
        <p:spPr>
          <a:xfrm>
            <a:off x="7178040" y="4297680"/>
            <a:ext cx="4462272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/>
        </p:spPr>
      </p:sp>
      <p:sp>
        <p:nvSpPr>
          <p:cNvPr id="12" name="text_199"/>
          <p:cNvSpPr txBox="1"/>
          <p:nvPr/>
        </p:nvSpPr>
        <p:spPr>
          <a:xfrm>
            <a:off x="7406640" y="429768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Example: </a:t>
            </a:r>
            <a:r>
              <a:rPr lang="en-US" sz="1800" dirty="0">
                <a:solidFill>
                  <a:schemeClr val="bg1"/>
                </a:solidFill>
              </a:rPr>
              <a:t>The system reports high risk and explains that decreasing inventory, increasing lead time and a port-strike report contributed to the warning.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 and Expected Results</a:t>
            </a:r>
            <a:endParaRPr lang="en-US" sz="2800" dirty="0"/>
          </a:p>
        </p:txBody>
      </p:sp>
      <p:sp>
        <p:nvSpPr>
          <p:cNvPr id="3" name="text_200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SupplyShield is designed to provide an interactive dashboard with three main areas:</a:t>
            </a:r>
            <a:endParaRPr lang="en-US" sz="1800" dirty="0"/>
          </a:p>
        </p:txBody>
      </p:sp>
      <p:sp>
        <p:nvSpPr>
          <p:cNvPr id="4" name="card_201"/>
          <p:cNvSpPr/>
          <p:nvPr/>
        </p:nvSpPr>
        <p:spPr>
          <a:xfrm>
            <a:off x="548640" y="1783080"/>
            <a:ext cx="364845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5" name="num_202"/>
          <p:cNvSpPr txBox="1"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_203"/>
          <p:cNvSpPr txBox="1"/>
          <p:nvPr/>
        </p:nvSpPr>
        <p:spPr>
          <a:xfrm>
            <a:off x="77724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Executive Overview: </a:t>
            </a:r>
            <a:r>
              <a:rPr lang="en-US" sz="1700" dirty="0">
                <a:solidFill>
                  <a:srgbClr val="000000"/>
                </a:solidFill>
              </a:rPr>
              <a:t>Shows risk levels, alerts and disruption timelines.</a:t>
            </a:r>
            <a:endParaRPr lang="en-US" sz="1700" dirty="0"/>
          </a:p>
        </p:txBody>
      </p:sp>
      <p:sp>
        <p:nvSpPr>
          <p:cNvPr id="7" name="card_204"/>
          <p:cNvSpPr/>
          <p:nvPr/>
        </p:nvSpPr>
        <p:spPr>
          <a:xfrm>
            <a:off x="4270248" y="1783080"/>
            <a:ext cx="364845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8" name="num_205"/>
          <p:cNvSpPr txBox="1"/>
          <p:nvPr/>
        </p:nvSpPr>
        <p:spPr>
          <a:xfrm>
            <a:off x="4498848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_206"/>
          <p:cNvSpPr txBox="1"/>
          <p:nvPr/>
        </p:nvSpPr>
        <p:spPr>
          <a:xfrm>
            <a:off x="4498848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Alert Details: </a:t>
            </a:r>
            <a:r>
              <a:rPr lang="en-US" sz="1700" dirty="0">
                <a:solidFill>
                  <a:srgbClr val="000000"/>
                </a:solidFill>
              </a:rPr>
              <a:t>Shows the predicted risk, contributing factors and supporting news evidence.</a:t>
            </a:r>
            <a:endParaRPr lang="en-US" sz="1700" dirty="0"/>
          </a:p>
        </p:txBody>
      </p:sp>
      <p:sp>
        <p:nvSpPr>
          <p:cNvPr id="10" name="card_207"/>
          <p:cNvSpPr/>
          <p:nvPr/>
        </p:nvSpPr>
        <p:spPr>
          <a:xfrm>
            <a:off x="7991856" y="1783080"/>
            <a:ext cx="364845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num_208"/>
          <p:cNvSpPr txBox="1"/>
          <p:nvPr/>
        </p:nvSpPr>
        <p:spPr>
          <a:xfrm>
            <a:off x="8220456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_209"/>
          <p:cNvSpPr txBox="1"/>
          <p:nvPr/>
        </p:nvSpPr>
        <p:spPr>
          <a:xfrm>
            <a:off x="8220456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Manual Prediction Playground: </a:t>
            </a:r>
            <a:r>
              <a:rPr lang="en-US" sz="1700" dirty="0">
                <a:solidFill>
                  <a:srgbClr val="000000"/>
                </a:solidFill>
              </a:rPr>
              <a:t>Lets users change input values and explore different scenarios.</a:t>
            </a:r>
            <a:endParaRPr lang="en-US" sz="1700" dirty="0"/>
          </a:p>
        </p:txBody>
      </p:sp>
      <p:sp>
        <p:nvSpPr>
          <p:cNvPr id="13" name="text_210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system is intended to help users understand:</a:t>
            </a:r>
            <a:endParaRPr lang="en-US" sz="1800" dirty="0"/>
          </a:p>
        </p:txBody>
      </p:sp>
      <p:sp>
        <p:nvSpPr>
          <p:cNvPr id="14" name="card_211"/>
          <p:cNvSpPr/>
          <p:nvPr/>
        </p:nvSpPr>
        <p:spPr>
          <a:xfrm>
            <a:off x="548640" y="4389120"/>
            <a:ext cx="269748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15" name="badge_212"/>
          <p:cNvSpPr/>
          <p:nvPr/>
        </p:nvSpPr>
        <p:spPr>
          <a:xfrm>
            <a:off x="685800" y="4681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_213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791456"/>
            <a:ext cx="237744" cy="237744"/>
          </a:xfrm>
          <a:prstGeom prst="rect">
            <a:avLst/>
          </a:prstGeom>
        </p:spPr>
      </p:pic>
      <p:sp>
        <p:nvSpPr>
          <p:cNvPr id="17" name="text_214"/>
          <p:cNvSpPr txBox="1"/>
          <p:nvPr/>
        </p:nvSpPr>
        <p:spPr>
          <a:xfrm>
            <a:off x="1280160" y="43891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How serious a possible disruption is.</a:t>
            </a:r>
            <a:endParaRPr lang="en-US" sz="1500" dirty="0"/>
          </a:p>
        </p:txBody>
      </p:sp>
      <p:sp>
        <p:nvSpPr>
          <p:cNvPr id="18" name="card_215"/>
          <p:cNvSpPr/>
          <p:nvPr/>
        </p:nvSpPr>
        <p:spPr>
          <a:xfrm>
            <a:off x="3346704" y="4389120"/>
            <a:ext cx="269748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19" name="badge_216"/>
          <p:cNvSpPr/>
          <p:nvPr/>
        </p:nvSpPr>
        <p:spPr>
          <a:xfrm>
            <a:off x="3483864" y="4681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_217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4791456"/>
            <a:ext cx="237744" cy="237744"/>
          </a:xfrm>
          <a:prstGeom prst="rect">
            <a:avLst/>
          </a:prstGeom>
        </p:spPr>
      </p:pic>
      <p:sp>
        <p:nvSpPr>
          <p:cNvPr id="21" name="text_218"/>
          <p:cNvSpPr txBox="1"/>
          <p:nvPr/>
        </p:nvSpPr>
        <p:spPr>
          <a:xfrm>
            <a:off x="4078224" y="43891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What may be causing it.</a:t>
            </a:r>
            <a:endParaRPr lang="en-US" sz="1500" dirty="0"/>
          </a:p>
        </p:txBody>
      </p:sp>
      <p:sp>
        <p:nvSpPr>
          <p:cNvPr id="22" name="card_219"/>
          <p:cNvSpPr/>
          <p:nvPr/>
        </p:nvSpPr>
        <p:spPr>
          <a:xfrm>
            <a:off x="6144768" y="4389120"/>
            <a:ext cx="269748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23" name="badge_220"/>
          <p:cNvSpPr/>
          <p:nvPr/>
        </p:nvSpPr>
        <p:spPr>
          <a:xfrm>
            <a:off x="6281928" y="4681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_221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791456"/>
            <a:ext cx="237744" cy="237744"/>
          </a:xfrm>
          <a:prstGeom prst="rect">
            <a:avLst/>
          </a:prstGeom>
        </p:spPr>
      </p:pic>
      <p:sp>
        <p:nvSpPr>
          <p:cNvPr id="25" name="text_222"/>
          <p:cNvSpPr txBox="1"/>
          <p:nvPr/>
        </p:nvSpPr>
        <p:spPr>
          <a:xfrm>
            <a:off x="6876288" y="43891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When it might happen.</a:t>
            </a:r>
            <a:endParaRPr lang="en-US" sz="1500" dirty="0"/>
          </a:p>
        </p:txBody>
      </p:sp>
      <p:sp>
        <p:nvSpPr>
          <p:cNvPr id="26" name="card_223"/>
          <p:cNvSpPr/>
          <p:nvPr/>
        </p:nvSpPr>
        <p:spPr>
          <a:xfrm>
            <a:off x="8942832" y="4389120"/>
            <a:ext cx="269748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27" name="badge_224"/>
          <p:cNvSpPr/>
          <p:nvPr/>
        </p:nvSpPr>
        <p:spPr>
          <a:xfrm>
            <a:off x="9079992" y="4681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_225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791456"/>
            <a:ext cx="237744" cy="237744"/>
          </a:xfrm>
          <a:prstGeom prst="rect">
            <a:avLst/>
          </a:prstGeom>
        </p:spPr>
      </p:pic>
      <p:sp>
        <p:nvSpPr>
          <p:cNvPr id="29" name="text_226"/>
          <p:cNvSpPr txBox="1"/>
          <p:nvPr/>
        </p:nvSpPr>
        <p:spPr>
          <a:xfrm>
            <a:off x="9674352" y="43891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Which factors contributed to the warning.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 and Future Scope</a:t>
            </a:r>
            <a:endParaRPr lang="en-US" sz="2800" dirty="0"/>
          </a:p>
        </p:txBody>
      </p:sp>
      <p:sp>
        <p:nvSpPr>
          <p:cNvPr id="3" name="card_229"/>
          <p:cNvSpPr/>
          <p:nvPr/>
        </p:nvSpPr>
        <p:spPr>
          <a:xfrm>
            <a:off x="548640" y="1325880"/>
            <a:ext cx="5486400" cy="3794760"/>
          </a:xfrm>
          <a:prstGeom prst="roundRect">
            <a:avLst>
              <a:gd name="adj" fmla="val 2410"/>
            </a:avLst>
          </a:prstGeom>
          <a:solidFill>
            <a:schemeClr val="tx1"/>
          </a:solidFill>
          <a:ln/>
        </p:spPr>
      </p:sp>
      <p:sp>
        <p:nvSpPr>
          <p:cNvPr id="4" name="text_230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5" name="text_231"/>
          <p:cNvSpPr txBox="1"/>
          <p:nvPr/>
        </p:nvSpPr>
        <p:spPr>
          <a:xfrm>
            <a:off x="868680" y="21031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SupplyShield combines supply-chain data, news and external events to identify possible disruptions early. It also aims to explain its predictions so businesses can understand and respond to risks.</a:t>
            </a:r>
            <a:endParaRPr lang="en-US" sz="2200" dirty="0"/>
          </a:p>
        </p:txBody>
      </p:sp>
      <p:sp>
        <p:nvSpPr>
          <p:cNvPr id="6" name="text_232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Future improvements:</a:t>
            </a:r>
            <a:endParaRPr lang="en-US" sz="2000" dirty="0"/>
          </a:p>
        </p:txBody>
      </p:sp>
      <p:sp>
        <p:nvSpPr>
          <p:cNvPr id="7" name="card_233"/>
          <p:cNvSpPr/>
          <p:nvPr/>
        </p:nvSpPr>
        <p:spPr>
          <a:xfrm>
            <a:off x="6400800" y="1828800"/>
            <a:ext cx="523951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8" name="badge_234"/>
          <p:cNvSpPr/>
          <p:nvPr/>
        </p:nvSpPr>
        <p:spPr>
          <a:xfrm>
            <a:off x="6537960" y="191109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_235" descr="FaRou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4" y="2042770"/>
            <a:ext cx="285293" cy="285293"/>
          </a:xfrm>
          <a:prstGeom prst="rect">
            <a:avLst/>
          </a:prstGeom>
        </p:spPr>
      </p:pic>
      <p:sp>
        <p:nvSpPr>
          <p:cNvPr id="10" name="text_236"/>
          <p:cNvSpPr txBox="1"/>
          <p:nvPr/>
        </p:nvSpPr>
        <p:spPr>
          <a:xfrm>
            <a:off x="7269480" y="182880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Automatic supplier rerouting.</a:t>
            </a:r>
            <a:endParaRPr lang="en-US" sz="1800" dirty="0"/>
          </a:p>
        </p:txBody>
      </p:sp>
      <p:sp>
        <p:nvSpPr>
          <p:cNvPr id="11" name="card_237"/>
          <p:cNvSpPr/>
          <p:nvPr/>
        </p:nvSpPr>
        <p:spPr>
          <a:xfrm>
            <a:off x="6400800" y="2651760"/>
            <a:ext cx="523951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2" name="badge_238"/>
          <p:cNvSpPr/>
          <p:nvPr/>
        </p:nvSpPr>
        <p:spPr>
          <a:xfrm>
            <a:off x="6537960" y="27340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_239" descr="FaSatelli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865730"/>
            <a:ext cx="285293" cy="285293"/>
          </a:xfrm>
          <a:prstGeom prst="rect">
            <a:avLst/>
          </a:prstGeom>
        </p:spPr>
      </p:pic>
      <p:sp>
        <p:nvSpPr>
          <p:cNvPr id="14" name="text_240"/>
          <p:cNvSpPr txBox="1"/>
          <p:nvPr/>
        </p:nvSpPr>
        <p:spPr>
          <a:xfrm>
            <a:off x="7269480" y="26517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Satellite imagery for port monitoring.</a:t>
            </a:r>
            <a:endParaRPr lang="en-US" sz="1800" dirty="0"/>
          </a:p>
        </p:txBody>
      </p:sp>
      <p:sp>
        <p:nvSpPr>
          <p:cNvPr id="15" name="card_241"/>
          <p:cNvSpPr/>
          <p:nvPr/>
        </p:nvSpPr>
        <p:spPr>
          <a:xfrm>
            <a:off x="6400800" y="3474720"/>
            <a:ext cx="523951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6" name="badge_242"/>
          <p:cNvSpPr/>
          <p:nvPr/>
        </p:nvSpPr>
        <p:spPr>
          <a:xfrm>
            <a:off x="6537960" y="35570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_243" descr="FaSite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634" y="3688690"/>
            <a:ext cx="285293" cy="285293"/>
          </a:xfrm>
          <a:prstGeom prst="rect">
            <a:avLst/>
          </a:prstGeom>
        </p:spPr>
      </p:pic>
      <p:sp>
        <p:nvSpPr>
          <p:cNvPr id="18" name="text_244"/>
          <p:cNvSpPr txBox="1"/>
          <p:nvPr/>
        </p:nvSpPr>
        <p:spPr>
          <a:xfrm>
            <a:off x="7269480" y="347472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Analysis of deeper supplier networks.</a:t>
            </a:r>
            <a:endParaRPr lang="en-US" sz="1800" dirty="0"/>
          </a:p>
        </p:txBody>
      </p:sp>
      <p:sp>
        <p:nvSpPr>
          <p:cNvPr id="19" name="card_245"/>
          <p:cNvSpPr/>
          <p:nvPr/>
        </p:nvSpPr>
        <p:spPr>
          <a:xfrm>
            <a:off x="6400800" y="4297680"/>
            <a:ext cx="523951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20" name="badge_246"/>
          <p:cNvSpPr/>
          <p:nvPr/>
        </p:nvSpPr>
        <p:spPr>
          <a:xfrm>
            <a:off x="6537960" y="43799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_247" descr="FaMobile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634" y="4511650"/>
            <a:ext cx="285293" cy="285293"/>
          </a:xfrm>
          <a:prstGeom prst="rect">
            <a:avLst/>
          </a:prstGeom>
        </p:spPr>
      </p:pic>
      <p:sp>
        <p:nvSpPr>
          <p:cNvPr id="22" name="text_248"/>
          <p:cNvSpPr txBox="1"/>
          <p:nvPr/>
        </p:nvSpPr>
        <p:spPr>
          <a:xfrm>
            <a:off x="7269480" y="429768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Mobile notifications for urgent alerts.</a:t>
            </a:r>
            <a:endParaRPr lang="en-US" sz="1800" dirty="0"/>
          </a:p>
        </p:txBody>
      </p:sp>
      <p:sp>
        <p:nvSpPr>
          <p:cNvPr id="23" name="card_249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24" name="text_250"/>
          <p:cNvSpPr txBox="1"/>
          <p:nvPr/>
        </p:nvSpPr>
        <p:spPr>
          <a:xfrm>
            <a:off x="5160874" y="53492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Thank you!</a:t>
            </a:r>
            <a:endParaRPr lang="en-US" sz="2800" dirty="0"/>
          </a:p>
        </p:txBody>
      </p:sp>
      <p:sp>
        <p:nvSpPr>
          <p:cNvPr id="25" name="text_251"/>
          <p:cNvSpPr txBox="1"/>
          <p:nvPr/>
        </p:nvSpPr>
        <p:spPr>
          <a:xfrm>
            <a:off x="3931920" y="534924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lyChainEWS">
  <a:themeElements>
    <a:clrScheme name="SupplyChainEWS">
      <a:dk1>
        <a:srgbClr val="14213D"/>
      </a:dk1>
      <a:lt1>
        <a:srgbClr val="FFFFFF"/>
      </a:lt1>
      <a:dk2>
        <a:srgbClr val="1F3A5F"/>
      </a:dk2>
      <a:lt2>
        <a:srgbClr val="EAF1F6"/>
      </a:lt2>
      <a:accent1>
        <a:srgbClr val="0B7A7C"/>
      </a:accent1>
      <a:accent2>
        <a:srgbClr val="F2A541"/>
      </a:accent2>
      <a:accent3>
        <a:srgbClr val="2F6DA3"/>
      </a:accent3>
      <a:accent4>
        <a:srgbClr val="D9482B"/>
      </a:accent4>
      <a:accent5>
        <a:srgbClr val="7A5C99"/>
      </a:accent5>
      <a:accent6>
        <a:srgbClr val="4F9D4A"/>
      </a:accent6>
      <a:hlink>
        <a:srgbClr val="2F6DA3"/>
      </a:hlink>
      <a:folHlink>
        <a:srgbClr val="7A5C99"/>
      </a:folHlink>
    </a:clrScheme>
    <a:fontScheme name="SupplyChainEW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947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SupplyChainEWS</vt:lpstr>
      <vt:lpstr>SupplyShield: An Explainable Multimodal Early-Warning System for Supply Chain Disruptions</vt:lpstr>
      <vt:lpstr>Introduction</vt:lpstr>
      <vt:lpstr>Problem Statement and Objectives</vt:lpstr>
      <vt:lpstr>System Architecture</vt:lpstr>
      <vt:lpstr>Technologies Used</vt:lpstr>
      <vt:lpstr>Person 1: Supply-Chain Time-Series Intelligence</vt:lpstr>
      <vt:lpstr>Person 2: News Intelligence</vt:lpstr>
      <vt:lpstr>Person 3: External Event and Spatial Intelligence</vt:lpstr>
      <vt:lpstr>Person 4: Multimodal Fusion and Early Warning</vt:lpstr>
      <vt:lpstr>Person 5: Explainability and Integration</vt:lpstr>
      <vt:lpstr>Dashboard and Expected Results</vt:lpstr>
      <vt:lpstr>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Multimodal Early-Warning System for Supply-Chain Disruptions</dc:title>
  <dc:subject>PptxGenJS Presentation</dc:subject>
  <dc:creator>PptxGenJS</dc:creator>
  <cp:lastModifiedBy>krishnarastogi2005@outlook.com</cp:lastModifiedBy>
  <cp:revision>2</cp:revision>
  <dcterms:created xsi:type="dcterms:W3CDTF">2026-10-26T15:18:16Z</dcterms:created>
  <dcterms:modified xsi:type="dcterms:W3CDTF">2026-10-26T15:40:01Z</dcterms:modified>
</cp:coreProperties>
</file>