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5303520" cy="5212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530352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457200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60A5FA"/>
                </a:solidFill>
                <a:latin typeface="Segoe UI"/>
              </a:defRPr>
            </a:pPr>
            <a:r>
              <a:t>AMITY UNIVERSITY • CAPSTONE PROJECT</a:t>
            </a:r>
          </a:p>
          <a:p>
            <a:pPr>
              <a:spcBef>
                <a:spcPts val="1400"/>
              </a:spcBef>
              <a:defRPr sz="3600" b="1">
                <a:solidFill>
                  <a:srgbClr val="F8FAFC"/>
                </a:solidFill>
                <a:latin typeface="Segoe UI"/>
              </a:defRPr>
            </a:pPr>
            <a:r>
              <a:t>SupplyShield</a:t>
            </a:r>
          </a:p>
          <a:p>
            <a:pPr>
              <a:spcBef>
                <a:spcPts val="1400"/>
              </a:spcBef>
              <a:defRPr sz="1500">
                <a:solidFill>
                  <a:srgbClr val="94A3B8"/>
                </a:solidFill>
                <a:latin typeface="Segoe UI"/>
              </a:defRPr>
            </a:pPr>
            <a:r>
              <a:t>An Explainable Multimodal Early-Warning System for Supply Chain Disruptions</a:t>
            </a:r>
          </a:p>
          <a:p>
            <a:pPr>
              <a:spcBef>
                <a:spcPts val="1800"/>
              </a:spcBef>
              <a:defRPr sz="1100">
                <a:solidFill>
                  <a:srgbClr val="64748B"/>
                </a:solidFill>
                <a:latin typeface="Segoe UI"/>
              </a:defRPr>
            </a:pPr>
            <a:r>
              <a:t>Fusing Time-Series Intelligence, Real-Time News NLP, and Geospatial External Events into Calibrated Disruption Risk with Grounded Multi-Tier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822960"/>
            <a:ext cx="5150815" cy="5212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150815" cy="7315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188720"/>
            <a:ext cx="438912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PRESENTED BY: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691640"/>
            <a:ext cx="4419295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12280" y="1856232"/>
            <a:ext cx="402336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819656"/>
            <a:ext cx="356616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Segoe UI"/>
              </a:defRPr>
            </a:pPr>
            <a:r>
              <a:t>Anurag Dubey — A010175625008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System Lead &amp; Integration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2532888"/>
            <a:ext cx="4419295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2697480"/>
            <a:ext cx="402336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660904"/>
            <a:ext cx="356616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Segoe UI"/>
              </a:defRPr>
            </a:pPr>
            <a:r>
              <a:t>Shubham Kumar Bind — A010175625009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Time-Series Intelligence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3374136"/>
            <a:ext cx="4419295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12280" y="3538728"/>
            <a:ext cx="402336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3502152"/>
            <a:ext cx="356616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Segoe UI"/>
              </a:defRPr>
            </a:pPr>
            <a:r>
              <a:t>Abhigyan Balodi — A010175625011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News Intelligence NLP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4215384"/>
            <a:ext cx="4419295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12280" y="4379976"/>
            <a:ext cx="402336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343400"/>
            <a:ext cx="356616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Segoe UI"/>
              </a:defRPr>
            </a:pPr>
            <a:r>
              <a:t>Krishna Sagar — A010175625012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Event &amp; Spatial 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5056632"/>
            <a:ext cx="4419295" cy="73152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12280" y="5221224"/>
            <a:ext cx="402336" cy="40233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5184648"/>
            <a:ext cx="3566160" cy="5029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F8FAFC"/>
                </a:solidFill>
                <a:latin typeface="Segoe UI"/>
              </a:defRPr>
            </a:pPr>
            <a:r>
              <a:t>Harshita Rohilla — A010175625013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Multimodal Early Warning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60A5FA"/>
                </a:solidFill>
                <a:latin typeface="Segoe UI"/>
              </a:defRPr>
            </a:pPr>
            <a:r>
              <a:t>01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01 / FOUNDATION &amp;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Supply chains are global, complex, and vulnerable to cascading disruptions.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512064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1206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448056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THE OPERATIONAL REALITY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Supply chains help move products from suppliers to customers. However, problems like floods, strikes, supplier failures, and delivery delays can interrupt this process.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4206240"/>
            <a:ext cx="4480560" cy="164592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4389120"/>
            <a:ext cx="41148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11D48"/>
                </a:solidFill>
                <a:latin typeface="Segoe UI"/>
              </a:defRPr>
            </a:pPr>
            <a:r>
              <a:t>CRITICAL GAP IN TRADITIONAL SYSTEMS</a:t>
            </a:r>
          </a:p>
          <a:p>
            <a:pPr>
              <a:spcBef>
                <a:spcPts val="800"/>
              </a:spcBef>
              <a:defRPr sz="1200">
                <a:solidFill>
                  <a:srgbClr val="9F1239"/>
                </a:solidFill>
                <a:latin typeface="Segoe UI"/>
              </a:defRPr>
            </a:pPr>
            <a:r>
              <a:t>Traditional systems often identify problems after they have already happened, leaving organizations reactive rather than proactive.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287975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691640"/>
            <a:ext cx="528797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65960"/>
            <a:ext cx="46634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SUPPLYSHIELD AIMS TO: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423160"/>
            <a:ext cx="46634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29400" y="2569464"/>
            <a:ext cx="3657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69464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Identify possible disruptions early.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172968"/>
            <a:ext cx="46634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29400" y="3319272"/>
            <a:ext cx="3657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319272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Analyse information from different sources.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3922776"/>
            <a:ext cx="46634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29400" y="4069080"/>
            <a:ext cx="3657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406908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Predict supply-chain risk.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672584"/>
            <a:ext cx="46634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29400" y="4818888"/>
            <a:ext cx="3657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818888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Explain why a warning was generated.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5422392"/>
            <a:ext cx="4663440" cy="658368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29400" y="5568696"/>
            <a:ext cx="3657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568696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Segoe UI"/>
              </a:defRPr>
            </a:pPr>
            <a:r>
              <a:t>Display results on an interactive dashboard.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02 / MOTIVATION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Problem Statement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Bridging the latency and black-box gap in modern supply chain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105156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91440" cy="105156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102412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11D48"/>
                </a:solidFill>
                <a:latin typeface="Segoe UI"/>
              </a:defRPr>
            </a:pPr>
            <a:r>
              <a:t>CORE PROBLEM STATEMENT</a:t>
            </a:r>
          </a:p>
          <a:p>
            <a:pPr>
              <a:spcBef>
                <a:spcPts val="400"/>
              </a:spcBef>
              <a:defRPr sz="1400" b="1">
                <a:solidFill>
                  <a:srgbClr val="9F1239"/>
                </a:solidFill>
                <a:latin typeface="Segoe UI"/>
              </a:defRPr>
            </a:pPr>
            <a:r>
              <a:t>Problem: Companies often receive warnings too late, and some AI systems do not clearly explain their predictions.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8036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880360"/>
            <a:ext cx="3429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32918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044952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Analyse sales, inventory, and delivery information.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Time-series behavioral analysis &amp; lag modeling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9976" y="288036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9976" y="2880360"/>
            <a:ext cx="3429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62856" y="3063240"/>
            <a:ext cx="32918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1768" y="3044952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Understand supply-chain-related news.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NLP extraction of real-time supplier &amp; port events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2" y="288036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2" y="2880360"/>
            <a:ext cx="3429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2" y="3063240"/>
            <a:ext cx="32918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0224" y="3044952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Identify risks from weather and external events.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Spatial mapping of floods, storms, and geopolitical delays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6177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617720"/>
            <a:ext cx="3429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800600"/>
            <a:ext cx="32918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3312" y="4782312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Combine all the information to predict disruptions.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Multimodal cross-attention fusion architecture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9976" y="46177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79976" y="4617720"/>
            <a:ext cx="3429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62856" y="4800600"/>
            <a:ext cx="32918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01768" y="4782312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Explain predictions with supporting evidence.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SHAP attribution &amp; grounded multi-tier evidence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8432" y="4617720"/>
            <a:ext cx="34290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28432" y="4617720"/>
            <a:ext cx="3429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11312" y="4800600"/>
            <a:ext cx="329184" cy="3291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4" y="4782312"/>
            <a:ext cx="26517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Segoe UI"/>
              </a:defRPr>
            </a:pPr>
            <a:r>
              <a:t>Display risk alerts through a dashboard.</a:t>
            </a:r>
          </a:p>
          <a:p>
            <a:pPr>
              <a:spcBef>
                <a:spcPts val="400"/>
              </a:spcBef>
              <a:defRPr sz="950">
                <a:solidFill>
                  <a:srgbClr val="475569"/>
                </a:solidFill>
                <a:latin typeface="Segoe UI"/>
              </a:defRPr>
            </a:pPr>
            <a:r>
              <a:t>Executive control center with scenario playground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03 / END-TO-END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Modular multi-tiered architecture connecting ingestion, specialized intelligence, fusion, and explainability.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1993392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1993392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1719072" cy="4069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Segoe UI"/>
              </a:defRPr>
            </a:pPr>
            <a:r>
              <a:t>STAGE 1: INGESTION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Input Data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Segoe UI"/>
              </a:defRPr>
            </a:pPr>
            <a:r>
              <a:t>Sales, inventory, news, weather and location data</a:t>
            </a:r>
          </a:p>
          <a:p>
            <a:pPr>
              <a:spcBef>
                <a:spcPts val="800"/>
              </a:spcBef>
              <a:defRPr sz="700">
                <a:solidFill>
                  <a:srgbClr val="E2E8F0"/>
                </a:solidFill>
                <a:latin typeface="Segoe UI"/>
              </a:defRPr>
            </a:pPr>
            <a:r>
              <a:t>─────────────────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Daily ERP transactions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Global RSS news streams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Weather &amp; geo-event logs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07792" y="1737360"/>
            <a:ext cx="1993392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7792" y="1737360"/>
            <a:ext cx="1993392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920240"/>
            <a:ext cx="1719072" cy="4069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4F46E5"/>
                </a:solidFill>
                <a:latin typeface="Segoe UI"/>
              </a:defRPr>
            </a:pPr>
            <a:r>
              <a:t>STAGE 2: EXTRACTION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Intelligence Engines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Segoe UI"/>
              </a:defRPr>
            </a:pPr>
            <a:r>
              <a:t>Specialized Feature Processors</a:t>
            </a:r>
          </a:p>
          <a:p>
            <a:pPr>
              <a:spcBef>
                <a:spcPts val="800"/>
              </a:spcBef>
              <a:defRPr sz="700">
                <a:solidFill>
                  <a:srgbClr val="E2E8F0"/>
                </a:solidFill>
                <a:latin typeface="Segoe UI"/>
              </a:defRPr>
            </a:pPr>
            <a:r>
              <a:t>─────────────────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• Time-Series (Inventory &amp; Delay)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• News NLP (Event Sentiment)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• Event Risk (Spatial &amp; Weather)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1737360"/>
            <a:ext cx="1993392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84064" y="1737360"/>
            <a:ext cx="199339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21224" y="1920240"/>
            <a:ext cx="1719072" cy="4069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D9488"/>
                </a:solidFill>
                <a:latin typeface="Segoe UI"/>
              </a:defRPr>
            </a:pPr>
            <a:r>
              <a:t>STAGE 3: FUSION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Multimodal Fusion and Prediction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Segoe UI"/>
              </a:defRPr>
            </a:pPr>
            <a:r>
              <a:t>Cross-Modal Representation &amp; Alignment</a:t>
            </a:r>
          </a:p>
          <a:p>
            <a:pPr>
              <a:spcBef>
                <a:spcPts val="800"/>
              </a:spcBef>
              <a:defRPr sz="700">
                <a:solidFill>
                  <a:srgbClr val="E2E8F0"/>
                </a:solidFill>
                <a:latin typeface="Segoe UI"/>
              </a:defRPr>
            </a:pPr>
            <a:r>
              <a:t>─────────────────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Feature Alignment &amp; Normalization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Cross-Attention Modality Bundling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Calibrated Disruption Classifier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0336" y="1737360"/>
            <a:ext cx="1993392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60336" y="1737360"/>
            <a:ext cx="1993392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1920240"/>
            <a:ext cx="1719072" cy="4069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D97706"/>
                </a:solidFill>
                <a:latin typeface="Segoe UI"/>
              </a:defRPr>
            </a:pPr>
            <a:r>
              <a:t>STAGE 4: VERIFICATION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Explainability and Integration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Segoe UI"/>
              </a:defRPr>
            </a:pPr>
            <a:r>
              <a:t>Transparent Attribution &amp; Grounding</a:t>
            </a:r>
          </a:p>
          <a:p>
            <a:pPr>
              <a:spcBef>
                <a:spcPts val="800"/>
              </a:spcBef>
              <a:defRPr sz="700">
                <a:solidFill>
                  <a:srgbClr val="E2E8F0"/>
                </a:solidFill>
                <a:latin typeface="Segoe UI"/>
              </a:defRPr>
            </a:pPr>
            <a:r>
              <a:t>─────────────────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SHAP Permutation Explainer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Multi-Tier Consistency Verifier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Ensemble Uncertainty Estimation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36608" y="1737360"/>
            <a:ext cx="1993392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36608" y="1737360"/>
            <a:ext cx="1993392" cy="54864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73768" y="1920240"/>
            <a:ext cx="1719072" cy="4069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E11D48"/>
                </a:solidFill>
                <a:latin typeface="Segoe UI"/>
              </a:defRPr>
            </a:pPr>
            <a:r>
              <a:t>STAGE 5: PRESENTATION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Early-Warning Dashboard</a:t>
            </a:r>
          </a:p>
          <a:p>
            <a:pPr>
              <a:spcBef>
                <a:spcPts val="600"/>
              </a:spcBef>
              <a:defRPr sz="1000">
                <a:solidFill>
                  <a:srgbClr val="475569"/>
                </a:solidFill>
                <a:latin typeface="Segoe UI"/>
              </a:defRPr>
            </a:pPr>
            <a:r>
              <a:t>Risk, evidence and explanation</a:t>
            </a:r>
          </a:p>
          <a:p>
            <a:pPr>
              <a:spcBef>
                <a:spcPts val="800"/>
              </a:spcBef>
              <a:defRPr sz="700">
                <a:solidFill>
                  <a:srgbClr val="E2E8F0"/>
                </a:solidFill>
                <a:latin typeface="Segoe UI"/>
              </a:defRPr>
            </a:pPr>
            <a:r>
              <a:t>─────────────────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Executive Risk Monitoring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Interactive Evidence Inspector</a:t>
            </a:r>
          </a:p>
          <a:p>
            <a:pPr>
              <a:spcBef>
                <a:spcPts val="600"/>
              </a:spcBef>
              <a:defRPr sz="950">
                <a:solidFill>
                  <a:srgbClr val="0F172A"/>
                </a:solidFill>
                <a:latin typeface="Segoe UI"/>
              </a:defRPr>
            </a:pPr>
            <a:r>
              <a:t>Manual What-If Scenario Sandbox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04 / TECH STACK &amp;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Technologies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The project uses these main technologies across backend modeling, data science, and web delivery: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54864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Python: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Main programming language.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9976" y="1737360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9976" y="1737360"/>
            <a:ext cx="54864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196596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Pandas and NumPy: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Data cleaning and numerical calculations.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1737360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28432" y="1737360"/>
            <a:ext cx="54864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2" y="196596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Scikit-learn: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Machine-learning models.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291839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291839"/>
            <a:ext cx="54864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520439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PyTorch: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Neural-network development.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9976" y="3291839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79976" y="3291839"/>
            <a:ext cx="54864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8576" y="3520439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Sentence Transformers: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Understanding news text.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8432" y="3291839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28432" y="3291839"/>
            <a:ext cx="54864" cy="13716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2" y="3520439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SHAP: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Explaining model predictions.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846320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" y="4846320"/>
            <a:ext cx="54864" cy="1371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7492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HTML, CSS and JavaScript: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Creating the web dashboard.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9976" y="4846320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9976" y="4846320"/>
            <a:ext cx="54864" cy="1371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507492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Chart.js: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Displaying charts and risk information.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28432" y="4846320"/>
            <a:ext cx="34290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28432" y="4846320"/>
            <a:ext cx="54864" cy="13716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2" y="5074920"/>
            <a:ext cx="3063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GitHub and Vercel:</a:t>
            </a:r>
          </a:p>
          <a:p>
            <a:pPr>
              <a:spcBef>
                <a:spcPts val="6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Code management and dashboard deployment.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Person 1: Supply-Chain Time-Series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My role is to analyse historical supply-chain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CORE MODULE LIBRARY:  SupplyChainTimeSeries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62179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217920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557784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2563EB"/>
                </a:solidFill>
                <a:latin typeface="Segoe UI"/>
              </a:defRPr>
            </a:pPr>
            <a:r>
              <a:t>MAIN TASKS &amp; CAPABILITIES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Clean sales, inventory and delivery data.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Analyse demand and supplier lead times.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Create lag features and moving averages.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Detect unusual changes.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Calculate inventory and time-based risk.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Forecast future demand.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286000"/>
            <a:ext cx="4282135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286000"/>
            <a:ext cx="428213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51460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Segoe UI"/>
              </a:defRPr>
            </a:pPr>
            <a:r>
              <a:t>Technologies: Python, Pandas, NumPy and Scikit-learn.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3931920"/>
            <a:ext cx="4282135" cy="22402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3931920"/>
            <a:ext cx="73152" cy="2240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6052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REAL-WORLD OPERATIONAL EXAMPLE</a:t>
            </a:r>
          </a:p>
          <a:p>
            <a:pPr>
              <a:spcBef>
                <a:spcPts val="800"/>
              </a:spcBef>
              <a:defRPr sz="1200" b="1">
                <a:solidFill>
                  <a:srgbClr val="14532D"/>
                </a:solidFill>
                <a:latin typeface="Segoe UI"/>
              </a:defRPr>
            </a:pPr>
            <a:r>
              <a:t>Example: If demand increases while inventory decreases, the system can identify a possible shortage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Person 2: News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My role is to analyse news articles and identify supply-chain-related events.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CORE MODULE LIBRARY:  NewsIntelligence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62179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217920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557784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4F46E5"/>
                </a:solidFill>
                <a:latin typeface="Segoe UI"/>
              </a:defRPr>
            </a:pPr>
            <a:r>
              <a:t>MAIN TASKS &amp; CAPABILITIES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Process news headlines.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Identify companies, suppliers and locations.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Detect events such as strikes and port closures.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Analyse sentiment and event relevance.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Convert text into useful numerical features.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286000"/>
            <a:ext cx="4282135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286000"/>
            <a:ext cx="428213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51460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Segoe UI"/>
              </a:defRPr>
            </a:pPr>
            <a:r>
              <a:t>Technologies: Python, NLP, Sentence Transformers and sentiment analysis.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3931920"/>
            <a:ext cx="4282135" cy="22402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3931920"/>
            <a:ext cx="73152" cy="2240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6052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REAL-WORLD OPERATIONAL EXAMPLE</a:t>
            </a:r>
          </a:p>
          <a:p>
            <a:pPr>
              <a:spcBef>
                <a:spcPts val="800"/>
              </a:spcBef>
              <a:defRPr sz="1200" b="1">
                <a:solidFill>
                  <a:srgbClr val="14532D"/>
                </a:solidFill>
                <a:latin typeface="Segoe UI"/>
              </a:defRPr>
            </a:pPr>
            <a:r>
              <a:t>Example: A news article about a port strike can provide an early signal of possible delivery delays.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Person 3: External Event and Spatial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My role is to analyse external events and their possible effects on supply-chain locations.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CORE MODULE LIBRARY:  SupplyChainEventRisk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62179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21792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557784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D9488"/>
                </a:solidFill>
                <a:latin typeface="Segoe UI"/>
              </a:defRPr>
            </a:pPr>
            <a:r>
              <a:t>MAIN TASKS &amp; CAPABILITIES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Identify weather events and natural disasters.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Analyse geopolitical and infrastructure problems.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Match events with locations and dates.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Calculate event severity.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Map risks to suppliers, ports and transport routes.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286000"/>
            <a:ext cx="4282135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286000"/>
            <a:ext cx="428213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51460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Segoe UI"/>
              </a:defRPr>
            </a:pPr>
            <a:r>
              <a:t>Technologies: Python, geographical data processing and spatial analysis.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3931920"/>
            <a:ext cx="4282135" cy="22402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3931920"/>
            <a:ext cx="73152" cy="2240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6052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REAL-WORLD OPERATIONAL EXAMPLE</a:t>
            </a:r>
          </a:p>
          <a:p>
            <a:pPr>
              <a:spcBef>
                <a:spcPts val="800"/>
              </a:spcBef>
              <a:defRPr sz="1200" b="1">
                <a:solidFill>
                  <a:srgbClr val="14532D"/>
                </a:solidFill>
                <a:latin typeface="Segoe UI"/>
              </a:defRPr>
            </a:pPr>
            <a:r>
              <a:t>Example: A flood near a supplier's transport route may increase the risk of delivery disruption.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Person 4: Multimodal Fusion and Early Warning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My role is to combine information from the first three modules and predict disruption risk.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CORE MODULE LIBRARY:  MultimodalWarning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62179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217920" cy="45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557784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MAIN TASKS &amp; CAPABILITIES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Combine time-series, news and event features.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Align data from different sources.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Predict disruption probability.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Classify risk and possible disruption type.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Estimate when a disruption may occur.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286000"/>
            <a:ext cx="4282135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286000"/>
            <a:ext cx="428213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51460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Segoe UI"/>
              </a:defRPr>
            </a:pPr>
            <a:r>
              <a:t>Technologies: Python, PyTorch, machine learning and multimodal 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3931920"/>
            <a:ext cx="4282135" cy="22402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3931920"/>
            <a:ext cx="73152" cy="2240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6052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REAL-WORLD OPERATIONAL EXAMPLE</a:t>
            </a:r>
          </a:p>
          <a:p>
            <a:pPr>
              <a:spcBef>
                <a:spcPts val="800"/>
              </a:spcBef>
              <a:defRPr sz="1200" b="1">
                <a:solidFill>
                  <a:srgbClr val="14532D"/>
                </a:solidFill>
                <a:latin typeface="Segoe UI"/>
              </a:defRPr>
            </a:pPr>
            <a:r>
              <a:t>Example: Increasing lead time, a port-strike report and a flood warning together may indicate a higher disruption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05 / INDIVIDUAL 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Person 5: Explainability and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My role is to explain the prediction and connect the different modules into one system.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10728655" cy="502920"/>
          </a:xfrm>
          <a:prstGeom prst="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1033272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Segoe UI"/>
              </a:defRPr>
            </a:pPr>
            <a:r>
              <a:t>CORE MODULE LIBRARY:  ExplainableWarning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86000"/>
            <a:ext cx="621792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6217920" cy="45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5577840" cy="3383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E11D48"/>
                </a:solidFill>
                <a:latin typeface="Segoe UI"/>
              </a:defRPr>
            </a:pPr>
            <a:r>
              <a:t>MAIN TASKS &amp; CAPABILITIES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Explain which factors influenced the prediction.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Use SHAP to measure feature contributions.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Check warnings against supporting evidence.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Communicate uncertainty.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Generate simple explanations for users.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  <a:latin typeface="Segoe UI"/>
              </a:defRPr>
            </a:pPr>
            <a:r>
              <a:t>•  Connect the modules to the dashboard.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286000"/>
            <a:ext cx="4282135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286000"/>
            <a:ext cx="4282135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514600"/>
            <a:ext cx="37490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  <a:latin typeface="Segoe UI"/>
              </a:defRPr>
            </a:pPr>
            <a:r>
              <a:t>Technologies: Python, SHAP, SciPy, HTML, CSS, JavaScript and Chart.js.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3931920"/>
            <a:ext cx="4282135" cy="224028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3931920"/>
            <a:ext cx="73152" cy="22402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360" y="416052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D9488"/>
                </a:solidFill>
                <a:latin typeface="Segoe UI"/>
              </a:defRPr>
            </a:pPr>
            <a:r>
              <a:t>REAL-WORLD OPERATIONAL EXAMPLE</a:t>
            </a:r>
          </a:p>
          <a:p>
            <a:pPr>
              <a:spcBef>
                <a:spcPts val="800"/>
              </a:spcBef>
              <a:defRPr sz="1200" b="1">
                <a:solidFill>
                  <a:srgbClr val="14532D"/>
                </a:solidFill>
                <a:latin typeface="Segoe UI"/>
              </a:defRPr>
            </a:pPr>
            <a:r>
              <a:t>Example: The system reports high risk and explains that decreasing inventory, increasing lead time and a port-strike report contributed to the warning.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06 / INTERFACE &amp;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Dashboard and Expected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SupplyShield is designed to provide an interactive dashboard with three main areas: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34290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3429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1920240"/>
            <a:ext cx="365760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892808"/>
            <a:ext cx="2514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Executive Overview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Shows risk levels, alerts and disruption timelines.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9976" y="1691640"/>
            <a:ext cx="34290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9976" y="1691640"/>
            <a:ext cx="342900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08576" y="1920240"/>
            <a:ext cx="365760" cy="36576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1892808"/>
            <a:ext cx="2514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Alert Details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Shows the predicted risk, contributing factors and supporting news evidence.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28432" y="1691640"/>
            <a:ext cx="34290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28432" y="1691640"/>
            <a:ext cx="34290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57032" y="1920240"/>
            <a:ext cx="365760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>
              <a:defRPr sz="1100" b="1">
                <a:solidFill>
                  <a:srgbClr val="F8FAFC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1664" y="1892808"/>
            <a:ext cx="251460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Manual Prediction Playground</a:t>
            </a:r>
          </a:p>
          <a:p>
            <a:pPr>
              <a:spcBef>
                <a:spcPts val="800"/>
              </a:spcBef>
              <a:defRPr sz="1100">
                <a:solidFill>
                  <a:srgbClr val="475569"/>
                </a:solidFill>
                <a:latin typeface="Segoe UI"/>
              </a:defRPr>
            </a:pPr>
            <a:r>
              <a:t>Lets users change input values and explore different scenarios.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931920"/>
            <a:ext cx="10728655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3931920"/>
            <a:ext cx="10728655" cy="457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114800"/>
            <a:ext cx="1014984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4F46E5"/>
                </a:solidFill>
                <a:latin typeface="Segoe UI"/>
              </a:defRPr>
            </a:pPr>
            <a:r>
              <a:t>THE SYSTEM IS INTENDED TO HELP USERS UNDERSTAND: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4572000"/>
            <a:ext cx="242316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709160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SEVERITY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How serious a possible disruption 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4572000"/>
            <a:ext cx="242316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40" y="4709160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ROOT CAUSE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What may be causing 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572000"/>
            <a:ext cx="242316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709160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HORIZON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When it might happen.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3960" y="4572000"/>
            <a:ext cx="242316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4709160"/>
            <a:ext cx="2148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 b="1">
                <a:solidFill>
                  <a:srgbClr val="2563EB"/>
                </a:solidFill>
                <a:latin typeface="Segoe UI"/>
              </a:defRPr>
            </a:pPr>
            <a:r>
              <a:t>ATTRIBUTION</a:t>
            </a:r>
          </a:p>
          <a:p>
            <a:pPr>
              <a:spcBef>
                <a:spcPts val="6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Which factors contributed to the warning.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"/>
              </a:defRPr>
            </a:pPr>
            <a:r>
              <a:t>07 / IMPACT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Conclusion and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475569"/>
                </a:solidFill>
                <a:latin typeface="Segoe UI"/>
              </a:defRPr>
            </a:pPr>
            <a:r>
              <a:t>Summary of accomplishments and strategic pathways for next-generation intelligence.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91640"/>
            <a:ext cx="51206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1206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448056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CONCLUSION</a:t>
            </a:r>
          </a:p>
          <a:p>
            <a:pPr>
              <a:spcBef>
                <a:spcPts val="12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SupplyShield combines supply-chain data, news and external events to identify possible disruptions early. It also aims to explain its predictions so businesses can understand and respond to risks.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691640"/>
            <a:ext cx="5287975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691640"/>
            <a:ext cx="528797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0"/>
            <a:ext cx="466344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D9488"/>
                </a:solidFill>
                <a:latin typeface="Segoe UI"/>
              </a:defRPr>
            </a:pPr>
            <a:r>
              <a:t>FUTURE IMPROVEMENTS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Automatic supplier rerouting.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Satellite imagery for port monitoring.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Analysis of deeper supplier networks.</a:t>
            </a:r>
          </a:p>
          <a:p>
            <a:pPr>
              <a:spcBef>
                <a:spcPts val="1000"/>
              </a:spcBef>
              <a:defRPr sz="1200" b="1">
                <a:solidFill>
                  <a:srgbClr val="0F172A"/>
                </a:solidFill>
                <a:latin typeface="Segoe UI"/>
              </a:defRPr>
            </a:pPr>
            <a:r>
              <a:t>•  Mobile notifications for urgent alerts.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596128"/>
            <a:ext cx="1033272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Segoe UI"/>
              </a:defRPr>
            </a:pPr>
            <a:r>
              <a:t>Thank you!  —  Questions &amp; Discussion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Segoe UI"/>
              </a:defRPr>
            </a:pPr>
            <a:r>
              <a:t>SupplyShield — Multimodal Early-Warning System | Academic Capstone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473952"/>
            <a:ext cx="185897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00" b="1">
                <a:solidFill>
                  <a:srgbClr val="2563EB"/>
                </a:solidFill>
                <a:latin typeface="Segoe UI"/>
              </a:defRPr>
            </a:pPr>
            <a: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